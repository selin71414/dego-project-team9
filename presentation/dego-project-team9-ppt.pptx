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86" r:id="rId2"/>
    <p:sldId id="290" r:id="rId3"/>
    <p:sldId id="287" r:id="rId4"/>
    <p:sldId id="301" r:id="rId5"/>
    <p:sldId id="288" r:id="rId6"/>
    <p:sldId id="289" r:id="rId7"/>
    <p:sldId id="276" r:id="rId8"/>
    <p:sldId id="258" r:id="rId9"/>
    <p:sldId id="291" r:id="rId10"/>
    <p:sldId id="292" r:id="rId11"/>
    <p:sldId id="293" r:id="rId12"/>
    <p:sldId id="285" r:id="rId13"/>
    <p:sldId id="296" r:id="rId14"/>
    <p:sldId id="298" r:id="rId15"/>
    <p:sldId id="299" r:id="rId16"/>
    <p:sldId id="302" r:id="rId17"/>
    <p:sldId id="300" r:id="rId18"/>
    <p:sldId id="27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4" userDrawn="1">
          <p15:clr>
            <a:srgbClr val="A4A3A4"/>
          </p15:clr>
        </p15:guide>
        <p15:guide id="2" pos="288" userDrawn="1">
          <p15:clr>
            <a:srgbClr val="A4A3A4"/>
          </p15:clr>
        </p15:guide>
        <p15:guide id="3" pos="7392" userDrawn="1">
          <p15:clr>
            <a:srgbClr val="A4A3A4"/>
          </p15:clr>
        </p15:guide>
        <p15:guide id="4" orient="horz" pos="672" userDrawn="1">
          <p15:clr>
            <a:srgbClr val="A4A3A4"/>
          </p15:clr>
        </p15:guide>
        <p15:guide id="5" orient="horz" pos="216" userDrawn="1">
          <p15:clr>
            <a:srgbClr val="A4A3A4"/>
          </p15:clr>
        </p15:guide>
        <p15:guide id="6" orient="horz" pos="3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EBF7"/>
    <a:srgbClr val="1027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56A98A-F566-1A2B-A676-8E9E78B85CAB}" v="29" dt="2026-03-08T16:41:44.043"/>
    <p1510:client id="{298E0A52-7BE8-5C45-91C9-8C609DB8AF6A}" v="1005" dt="2026-03-08T17:04:22.408"/>
    <p1510:client id="{56930B33-B9A3-A882-F920-D3DCC8786EE4}" v="794" dt="2026-03-08T12:50:49.342"/>
    <p1510:client id="{5874A74F-83FA-0246-86D0-ECF27EBF3EF4}" v="105" dt="2026-03-08T19:13:20.178"/>
    <p1510:client id="{7DB87A39-4C44-7F4C-8140-575F1430B935}" v="3032" dt="2026-03-08T20:24:11.6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68"/>
  </p:normalViewPr>
  <p:slideViewPr>
    <p:cSldViewPr snapToGrid="0" snapToObjects="1">
      <p:cViewPr varScale="1">
        <p:scale>
          <a:sx n="105" d="100"/>
          <a:sy n="105" d="100"/>
        </p:scale>
        <p:origin x="840" y="200"/>
      </p:cViewPr>
      <p:guideLst>
        <p:guide orient="horz" pos="864"/>
        <p:guide pos="288"/>
        <p:guide pos="7392"/>
        <p:guide orient="horz" pos="672"/>
        <p:guide orient="horz" pos="216"/>
        <p:guide orient="horz" pos="38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0594D7-89D9-44DF-8EC4-339EC9FF5C1D}" type="datetimeFigureOut">
              <a:rPr lang="en-US" smtClean="0"/>
              <a:t>3/8/26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279EED-C460-4751-8E52-D18C6054A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579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279EED-C460-4751-8E52-D18C6054A4B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785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pt-PT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279EED-C460-4751-8E52-D18C6054A4B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1100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Income is not a gender proxy (no significant income gap between genders) - </a:t>
            </a:r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(t= </a:t>
            </a:r>
            <a:r>
              <a:rPr lang="en-PT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-1.1181, </a:t>
            </a:r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 = 0.264)</a:t>
            </a:r>
            <a:endParaRPr lang="en-GB"/>
          </a:p>
          <a:p>
            <a:r>
              <a:rPr lang="en-GB"/>
              <a:t>Gender gap present across </a:t>
            </a:r>
            <a:r>
              <a:rPr lang="en-GB" b="1"/>
              <a:t>all income levels</a:t>
            </a:r>
            <a:r>
              <a:rPr lang="en-GB"/>
              <a:t> — females consistently approved less than males</a:t>
            </a:r>
          </a:p>
          <a:p>
            <a:r>
              <a:rPr lang="en-GB"/>
              <a:t>Largest gap in </a:t>
            </a:r>
            <a:r>
              <a:rPr lang="en-GB" b="1"/>
              <a:t>Low Income</a:t>
            </a:r>
            <a:r>
              <a:rPr lang="en-GB"/>
              <a:t> Level </a:t>
            </a:r>
            <a:r>
              <a:rPr lang="en-GB" b="1"/>
              <a:t>- 18.2pp difference</a:t>
            </a:r>
          </a:p>
          <a:p>
            <a:r>
              <a:rPr lang="en-GB"/>
              <a:t>Even </a:t>
            </a:r>
            <a:r>
              <a:rPr lang="en-GB" b="1"/>
              <a:t>high-income females (62.7%)</a:t>
            </a:r>
            <a:r>
              <a:rPr lang="en-GB"/>
              <a:t> are approved less than </a:t>
            </a:r>
            <a:r>
              <a:rPr lang="en-GB" b="1"/>
              <a:t>medium-income males (73.3%)</a:t>
            </a:r>
          </a:p>
          <a:p>
            <a:r>
              <a:rPr lang="en-GB"/>
              <a:t>Interaction is statistically significant: </a:t>
            </a:r>
            <a:r>
              <a:rPr lang="el-GR" b="1"/>
              <a:t>χ² = 22.35, </a:t>
            </a:r>
            <a:r>
              <a:rPr lang="en-GB" b="1"/>
              <a:t>p = 0.001</a:t>
            </a:r>
          </a:p>
          <a:p>
            <a:r>
              <a:rPr lang="en-GB"/>
              <a:t>Conclusion: discrimination is likely </a:t>
            </a:r>
            <a:r>
              <a:rPr lang="en-GB" b="1"/>
              <a:t>direct gender bias</a:t>
            </a:r>
            <a:r>
              <a:rPr lang="en-GB"/>
              <a:t>, </a:t>
            </a:r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income does not explain the discrimination</a:t>
            </a:r>
            <a:endParaRPr lang="en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279EED-C460-4751-8E52-D18C6054A4B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7663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Clear age gradient: </a:t>
            </a:r>
            <a:r>
              <a:rPr lang="en-GB" b="1"/>
              <a:t>18-25 (33.3%)</a:t>
            </a:r>
            <a:r>
              <a:rPr lang="en-GB"/>
              <a:t> → </a:t>
            </a:r>
            <a:r>
              <a:rPr lang="en-GB" b="1"/>
              <a:t>26-35 (52.8%)</a:t>
            </a:r>
            <a:r>
              <a:rPr lang="en-GB"/>
              <a:t> → </a:t>
            </a:r>
            <a:r>
              <a:rPr lang="en-GB" b="1"/>
              <a:t>36-45 (67.9%)</a:t>
            </a:r>
          </a:p>
          <a:p>
            <a:r>
              <a:rPr lang="en-GB"/>
              <a:t>Cutoff set at </a:t>
            </a:r>
            <a:r>
              <a:rPr lang="en-GB" b="1"/>
              <a:t>35</a:t>
            </a:r>
            <a:r>
              <a:rPr lang="en-GB"/>
              <a:t> — biggest jump in approval rates occurs at this threshold</a:t>
            </a:r>
          </a:p>
          <a:p>
            <a:r>
              <a:rPr lang="en-GB"/>
              <a:t>Applicants ≤35: </a:t>
            </a:r>
            <a:r>
              <a:rPr lang="en-GB" b="1"/>
              <a:t>48.8%</a:t>
            </a:r>
            <a:r>
              <a:rPr lang="en-GB"/>
              <a:t> vs &gt;35: </a:t>
            </a:r>
            <a:r>
              <a:rPr lang="en-GB" b="1"/>
              <a:t>64.7%</a:t>
            </a:r>
            <a:r>
              <a:rPr lang="en-GB"/>
              <a:t> approval rate</a:t>
            </a:r>
          </a:p>
          <a:p>
            <a:r>
              <a:rPr lang="en-GB"/>
              <a:t>DI ratio = </a:t>
            </a:r>
            <a:r>
              <a:rPr lang="en-GB" b="1"/>
              <a:t>0.753</a:t>
            </a:r>
            <a:r>
              <a:rPr lang="en-GB"/>
              <a:t> → fails the four-fifths rule (threshold: 0.8)</a:t>
            </a:r>
          </a:p>
          <a:p>
            <a:r>
              <a:rPr lang="en-GB"/>
              <a:t>Statistically significant: </a:t>
            </a:r>
            <a:r>
              <a:rPr lang="el-GR" b="1"/>
              <a:t>χ² = 11.92, </a:t>
            </a:r>
            <a:r>
              <a:rPr lang="en-GB" b="1"/>
              <a:t>p = 0.0006</a:t>
            </a:r>
          </a:p>
          <a:p>
            <a:r>
              <a:rPr lang="en-GB"/>
              <a:t>65+ excluded from threshold calculation — only 2 applicants, not statistically reliable</a:t>
            </a:r>
          </a:p>
          <a:p>
            <a:endParaRPr lang="en-GB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Conclusion: </a:t>
            </a:r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Younger applicants are systematically less likely to be approved </a:t>
            </a:r>
            <a:r>
              <a:rPr lang="en-GB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</a:t>
            </a:r>
            <a:r>
              <a:rPr lang="en-GB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NovaCred's</a:t>
            </a:r>
            <a:r>
              <a:rPr lang="en-GB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lending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279EED-C460-4751-8E52-D18C6054A4B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8737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GB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279EED-C460-4751-8E52-D18C6054A4B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8431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279EED-C460-4751-8E52-D18C6054A4B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52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7A8D2-7801-4C1A-8174-6461E62C03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BCCA18-2CDE-4DFC-BD38-534A78EBE1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463E8-84B5-4771-B306-9BD537BBA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8388D-7049-4A58-ADEF-069566DE167C}" type="datetime1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DAFE3-1E93-4F0F-9D33-8FC7EBD0D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Your Footer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BB345-F763-43E1-9677-9C8B46796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CEE5B-6B89-47D3-A969-11CC9D54F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074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0E30E-2CF4-4C28-A728-ACC9709BA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D7D78-1CBF-4FC3-914C-F3FB674F3C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7800" indent="-177800">
              <a:buClr>
                <a:srgbClr val="102747"/>
              </a:buClr>
              <a:buFont typeface="Garamond" panose="02020404030301010803" pitchFamily="18" charset="0"/>
              <a:buChar char="›"/>
              <a:defRPr/>
            </a:lvl1pPr>
            <a:lvl2pPr marL="342900" indent="-165100">
              <a:buClr>
                <a:srgbClr val="102747"/>
              </a:buClr>
              <a:buFont typeface="Garamond" panose="02020404030301010803" pitchFamily="18" charset="0"/>
              <a:buChar char="›"/>
              <a:defRPr/>
            </a:lvl2pPr>
            <a:lvl3pPr marL="520700" indent="-165100"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/>
            </a:lvl3pPr>
            <a:lvl4pPr marL="685800" indent="-177800"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/>
            </a:lvl4pPr>
            <a:lvl5pPr marL="863600" indent="-177800"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C459B1-99F0-4BD1-8B0B-58723E65F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2679C-196D-4DE0-8A42-E5ADEB72970E}" type="datetime1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E4102-C2B4-4A47-9F34-AB569C938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Your Footer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8B167-E2CC-4E62-8049-AFC7D64DE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CEE5B-6B89-47D3-A969-11CC9D54F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842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E01E3-CDD6-4188-8C1C-C98FC9C36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061369-1D30-4C1E-9595-48AC121AD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EDAB11-A9B4-4500-BF8F-B50C2BB4C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4ED3D-CB9B-48CA-9D94-084D6089EB93}" type="datetime1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72044-A45B-41EA-930C-5263ADC40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Your Footer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5C8D7-6F28-4815-9EE3-1AC310BBF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CEE5B-6B89-47D3-A969-11CC9D54F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472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024E2-8BD4-4D5F-8392-7AD00B785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613C7-50F2-424F-BE7F-7DE7F4441D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118EE6-5835-4D32-A248-0BDDC8921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9169D1-83B0-400F-9319-38E8753A3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689B3-530D-4855-BCB9-DEB09A7CF906}" type="datetime1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C3FEED-4036-4191-A42E-A183CD031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Your Footer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901FE4-4C37-487F-8A3F-7F8C96BE3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CEE5B-6B89-47D3-A969-11CC9D54F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414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19C24-40E6-4317-A009-BC709DF49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934740-2740-4357-8B9E-D5EDF78058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F66345-5C80-4EA8-95D9-0896444A97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B0ECDC-8899-47DC-82BF-4A970E2954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4B3B67-BBA0-4D0C-A8CF-852BC026EB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A4E01C-3297-4635-8452-9091983D5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FEFAF-07A3-4695-BB79-64B21819070B}" type="datetime1">
              <a:rPr lang="en-US" smtClean="0"/>
              <a:t>3/8/26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84BF24-974A-42CF-A4DD-3F77B75E0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Your Footer Here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50926F-924C-40C9-90A6-2C476AE82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CEE5B-6B89-47D3-A969-11CC9D54F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946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44EE6-F7BA-4C11-AA2C-6A393C9A2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4FEA8C-7DFC-4CD9-AEF4-7B81F2BDE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83797-4250-4407-9785-E305430B2792}" type="datetime1">
              <a:rPr lang="en-US" smtClean="0"/>
              <a:t>3/8/26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1D82DD-A71A-499A-A598-A6104FD22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Your Footer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1A7A6E-C67E-4F89-ADB1-226826F61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CEE5B-6B89-47D3-A969-11CC9D54F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81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59F175-0F57-4EB3-B265-34517C43F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207AB-517D-4491-9172-EBFFC880A0F5}" type="datetime1">
              <a:rPr lang="en-US" smtClean="0"/>
              <a:t>3/8/26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284187-B78A-4088-BD9A-54F6B432D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Your Footer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3A28F-8FE9-46BF-A895-C31A14937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CEE5B-6B89-47D3-A969-11CC9D54F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824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AC224-3EAF-4EE6-A0D5-9A804E237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226DD-F5E8-414C-BDF0-C2F770A53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3F688C-1DE6-44DD-988C-9CB1769E2A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698EE2-070C-405B-B3AD-0DE7B0F72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0FA8-FD76-4777-81F3-EA849AAF49D9}" type="datetime1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C71937-FE79-46E8-880E-545632560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Your Footer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56B417-789C-4CF7-8948-08A457455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CEE5B-6B89-47D3-A969-11CC9D54F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265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10891-E02B-4A29-A955-5E06630F0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55FE48-8E40-498D-AA77-9E67F7F84A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5DF13E-98FF-4848-9799-8BCF36FB4C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FBA9BE-8217-4F2F-AC35-168B60950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5968D-F649-4BB4-A9DF-559D2CA7055F}" type="datetime1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63AB8-90C3-4C6E-8ABE-02803C029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Your Footer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99F9E5-7A14-4B53-85EF-77D661FA7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CEE5B-6B89-47D3-A969-11CC9D54F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850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CEB78-F0A3-4057-B8C5-D4FB73DB7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6F6B5E-9BC2-47EC-9A21-4DF177161F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8AB22-76D6-44FD-85AC-FC624D4CA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6A9BD-FB71-48D4-9715-A1838906E938}" type="datetime1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27D41-8927-4140-9BBB-3240D7037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Your Footer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790AD-13EB-472C-B70F-04CE90F24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CEE5B-6B89-47D3-A969-11CC9D54F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836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6AB713-8A5F-44D4-9418-40DEFBCA6A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7F773D-F7CE-4EC2-8150-A14C1DBB4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2FFE4-6D17-4A33-809A-DE4018BAE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6700E-BABF-48D7-91ED-16FA9F56B942}" type="datetime1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2F211-47EB-4D78-AA5E-7ACDE0062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Your Footer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CD26BA-3599-4EE3-9F68-E75EFE954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CEE5B-6B89-47D3-A969-11CC9D54F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751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2C7549-7BA2-4483-80DE-044F01FB2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3F9A2D-9010-4365-9F0A-6371B64B0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D3941-B14F-4EAD-86E2-820976428C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3026A1-4838-47B3-BDB6-2E6C2423384E}" type="datetime1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20FA04-5677-48F2-93C7-E80C17D694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Insert Your Footer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9B155-7C67-4B01-800F-B47EEE4F96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ACEE5B-6B89-47D3-A969-11CC9D54F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058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038">
            <a:extLst>
              <a:ext uri="{FF2B5EF4-FFF2-40B4-BE49-F238E27FC236}">
                <a16:creationId xmlns:a16="http://schemas.microsoft.com/office/drawing/2014/main" id="{0A4DC169-4993-4B1E-8950-4347355BC6A3}"/>
              </a:ext>
            </a:extLst>
          </p:cNvPr>
          <p:cNvSpPr/>
          <p:nvPr/>
        </p:nvSpPr>
        <p:spPr>
          <a:xfrm>
            <a:off x="9299732" y="0"/>
            <a:ext cx="2892267" cy="6858000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33867141-BFE8-4AF0-8CDC-F95068AF5D23}"/>
              </a:ext>
            </a:extLst>
          </p:cNvPr>
          <p:cNvCxnSpPr>
            <a:cxnSpLocks/>
          </p:cNvCxnSpPr>
          <p:nvPr/>
        </p:nvCxnSpPr>
        <p:spPr>
          <a:xfrm>
            <a:off x="0" y="6495609"/>
            <a:ext cx="929973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0EBF723D-A4F4-419F-A9B7-75AA050B8271}"/>
              </a:ext>
            </a:extLst>
          </p:cNvPr>
          <p:cNvSpPr/>
          <p:nvPr/>
        </p:nvSpPr>
        <p:spPr>
          <a:xfrm>
            <a:off x="1043189" y="2609850"/>
            <a:ext cx="11148810" cy="34947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53B379B-E74C-4691-8BE5-FBE0E846CB72}"/>
              </a:ext>
            </a:extLst>
          </p:cNvPr>
          <p:cNvGrpSpPr/>
          <p:nvPr/>
        </p:nvGrpSpPr>
        <p:grpSpPr>
          <a:xfrm>
            <a:off x="1592510" y="2918229"/>
            <a:ext cx="8063425" cy="2708964"/>
            <a:chOff x="810520" y="1439877"/>
            <a:chExt cx="8063425" cy="270896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741E572-75DE-459D-A703-6B6847D7931B}"/>
                </a:ext>
              </a:extLst>
            </p:cNvPr>
            <p:cNvSpPr txBox="1"/>
            <p:nvPr/>
          </p:nvSpPr>
          <p:spPr>
            <a:xfrm>
              <a:off x="810520" y="1439877"/>
              <a:ext cx="8063425" cy="1993431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6000" b="1">
                  <a:solidFill>
                    <a:srgbClr val="1E2761"/>
                  </a:solidFill>
                </a:rPr>
                <a:t>Credit Application</a:t>
              </a:r>
              <a:endParaRPr lang="en-US" sz="6000"/>
            </a:p>
            <a:p>
              <a:pPr marL="0" indent="0">
                <a:lnSpc>
                  <a:spcPct val="110000"/>
                </a:lnSpc>
                <a:buNone/>
              </a:pPr>
              <a:r>
                <a:rPr lang="en-US" sz="6000" b="1">
                  <a:solidFill>
                    <a:srgbClr val="1E2761"/>
                  </a:solidFill>
                </a:rPr>
                <a:t>Governance Analysis</a:t>
              </a:r>
              <a:endParaRPr lang="en-US" sz="600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0E15474-EB57-4BE6-A0DE-6F17AC4329AD}"/>
                </a:ext>
              </a:extLst>
            </p:cNvPr>
            <p:cNvSpPr txBox="1"/>
            <p:nvPr/>
          </p:nvSpPr>
          <p:spPr>
            <a:xfrm>
              <a:off x="810520" y="3717954"/>
              <a:ext cx="8063425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2800">
                  <a:solidFill>
                    <a:srgbClr val="102747"/>
                  </a:solidFill>
                  <a:latin typeface="Garamond" panose="02020404030301010803" pitchFamily="18" charset="0"/>
                </a:rPr>
                <a:t>DEGO 2606|Group 9 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2EC4867-BBC1-4B30-8F0D-2830056F8454}"/>
                </a:ext>
              </a:extLst>
            </p:cNvPr>
            <p:cNvCxnSpPr>
              <a:cxnSpLocks/>
            </p:cNvCxnSpPr>
            <p:nvPr/>
          </p:nvCxnSpPr>
          <p:spPr>
            <a:xfrm>
              <a:off x="810520" y="3575631"/>
              <a:ext cx="8063425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4" name="Group 1043">
            <a:extLst>
              <a:ext uri="{FF2B5EF4-FFF2-40B4-BE49-F238E27FC236}">
                <a16:creationId xmlns:a16="http://schemas.microsoft.com/office/drawing/2014/main" id="{3FC859BB-9DED-4BC3-A24A-683432F38FB3}"/>
              </a:ext>
            </a:extLst>
          </p:cNvPr>
          <p:cNvGrpSpPr/>
          <p:nvPr/>
        </p:nvGrpSpPr>
        <p:grpSpPr>
          <a:xfrm>
            <a:off x="642020" y="1728872"/>
            <a:ext cx="3202734" cy="738655"/>
            <a:chOff x="684699" y="2988605"/>
            <a:chExt cx="3202734" cy="738655"/>
          </a:xfrm>
        </p:grpSpPr>
        <p:sp>
          <p:nvSpPr>
            <p:cNvPr id="1036" name="Rectangle 1035">
              <a:extLst>
                <a:ext uri="{FF2B5EF4-FFF2-40B4-BE49-F238E27FC236}">
                  <a16:creationId xmlns:a16="http://schemas.microsoft.com/office/drawing/2014/main" id="{1B14BE5B-21DC-47E0-8177-5D05CFFDF548}"/>
                </a:ext>
              </a:extLst>
            </p:cNvPr>
            <p:cNvSpPr/>
            <p:nvPr/>
          </p:nvSpPr>
          <p:spPr>
            <a:xfrm>
              <a:off x="684699" y="2988605"/>
              <a:ext cx="3202734" cy="738655"/>
            </a:xfrm>
            <a:prstGeom prst="rect">
              <a:avLst/>
            </a:prstGeom>
            <a:solidFill>
              <a:srgbClr val="1027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Subtitle 63">
              <a:extLst>
                <a:ext uri="{FF2B5EF4-FFF2-40B4-BE49-F238E27FC236}">
                  <a16:creationId xmlns:a16="http://schemas.microsoft.com/office/drawing/2014/main" id="{8F7A174D-DAFD-4582-9472-A624813A8C08}"/>
                </a:ext>
              </a:extLst>
            </p:cNvPr>
            <p:cNvSpPr txBox="1">
              <a:spLocks/>
            </p:cNvSpPr>
            <p:nvPr/>
          </p:nvSpPr>
          <p:spPr>
            <a:xfrm>
              <a:off x="842779" y="3135115"/>
              <a:ext cx="2818347" cy="335669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i="1">
                  <a:solidFill>
                    <a:schemeClr val="bg1"/>
                  </a:solidFill>
                  <a:latin typeface="Garamond" panose="02020404030301010803" pitchFamily="18" charset="0"/>
                  <a:cs typeface="Segoe UI" panose="020B0502040204020203" pitchFamily="34" charset="0"/>
                </a:rPr>
                <a:t>Nova Cred</a:t>
              </a:r>
              <a:endParaRPr lang="en-US" sz="2800">
                <a:solidFill>
                  <a:schemeClr val="bg1"/>
                </a:solidFill>
                <a:latin typeface="Garamond" panose="02020404030301010803" pitchFamily="18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47DFAF3-7A6F-483E-9BBB-030930CF6727}"/>
              </a:ext>
            </a:extLst>
          </p:cNvPr>
          <p:cNvCxnSpPr>
            <a:cxnSpLocks/>
          </p:cNvCxnSpPr>
          <p:nvPr/>
        </p:nvCxnSpPr>
        <p:spPr>
          <a:xfrm>
            <a:off x="9299732" y="6495609"/>
            <a:ext cx="85625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File:Nova logo.png - Wikimedia Commons">
            <a:extLst>
              <a:ext uri="{FF2B5EF4-FFF2-40B4-BE49-F238E27FC236}">
                <a16:creationId xmlns:a16="http://schemas.microsoft.com/office/drawing/2014/main" id="{EC9683E3-AE4A-134C-9821-E3324E5CCF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30" t="4498" r="4807" b="10372"/>
          <a:stretch>
            <a:fillRect/>
          </a:stretch>
        </p:blipFill>
        <p:spPr>
          <a:xfrm>
            <a:off x="-101262" y="-35093"/>
            <a:ext cx="2056723" cy="101055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44579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9ADDA-F337-4788-86F1-266D5676F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365125"/>
            <a:ext cx="11258550" cy="701675"/>
          </a:xfrm>
        </p:spPr>
        <p:txBody>
          <a:bodyPr lIns="0" tIns="0" rIns="0" bIns="0" anchor="ctr">
            <a:normAutofit/>
          </a:bodyPr>
          <a:lstStyle/>
          <a:p>
            <a:r>
              <a:rPr lang="en-US" sz="2800"/>
              <a:t>Team Profile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DF7546-5B53-457F-BF1F-872AA9DC4568}"/>
              </a:ext>
            </a:extLst>
          </p:cNvPr>
          <p:cNvSpPr/>
          <p:nvPr/>
        </p:nvSpPr>
        <p:spPr>
          <a:xfrm>
            <a:off x="0" y="365125"/>
            <a:ext cx="275771" cy="701675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19D98-9AE7-44E7-8F60-792F270F2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6287" y="6275388"/>
            <a:ext cx="388513" cy="365125"/>
          </a:xfrm>
          <a:solidFill>
            <a:srgbClr val="102747"/>
          </a:solidFill>
        </p:spPr>
        <p:txBody>
          <a:bodyPr/>
          <a:lstStyle/>
          <a:p>
            <a:pPr algn="ctr"/>
            <a:fld id="{20ACEE5B-6B89-47D3-A969-11CC9D54FA43}" type="slidenum">
              <a:rPr lang="en-US" smtClean="0">
                <a:solidFill>
                  <a:schemeClr val="bg1"/>
                </a:solidFill>
              </a:rPr>
              <a:pPr algn="ctr"/>
              <a:t>2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B6EFDB5-FC2B-49AA-A879-65DB711D8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6250" y="6275388"/>
            <a:ext cx="4114800" cy="365125"/>
          </a:xfrm>
        </p:spPr>
        <p:txBody>
          <a:bodyPr lIns="0"/>
          <a:lstStyle/>
          <a:p>
            <a:pPr algn="l"/>
            <a:r>
              <a:rPr lang="en-US" err="1"/>
              <a:t>Dego</a:t>
            </a:r>
            <a:r>
              <a:rPr lang="en-US"/>
              <a:t> 2606|Msc Business </a:t>
            </a:r>
            <a:r>
              <a:rPr lang="en-US" err="1"/>
              <a:t>Analytics|Team</a:t>
            </a:r>
            <a:r>
              <a:rPr lang="en-US"/>
              <a:t> 9|Txa</a:t>
            </a:r>
          </a:p>
          <a:p>
            <a:pPr algn="l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B636B81-E366-40A1-A22C-E23DE020F5B1}"/>
              </a:ext>
            </a:extLst>
          </p:cNvPr>
          <p:cNvCxnSpPr/>
          <p:nvPr/>
        </p:nvCxnSpPr>
        <p:spPr>
          <a:xfrm>
            <a:off x="4723238" y="6457950"/>
            <a:ext cx="649086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901C59F4-37F7-49AE-8544-9F12AAF60862}"/>
              </a:ext>
            </a:extLst>
          </p:cNvPr>
          <p:cNvSpPr/>
          <p:nvPr/>
        </p:nvSpPr>
        <p:spPr>
          <a:xfrm>
            <a:off x="457199" y="1900239"/>
            <a:ext cx="2703610" cy="37664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6971F06-C746-4813-B581-1EA68A2E538A}"/>
              </a:ext>
            </a:extLst>
          </p:cNvPr>
          <p:cNvSpPr/>
          <p:nvPr/>
        </p:nvSpPr>
        <p:spPr>
          <a:xfrm>
            <a:off x="3308845" y="1900239"/>
            <a:ext cx="2703610" cy="37664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§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302245-387A-4EDC-90E5-8722D4EE7A5F}"/>
              </a:ext>
            </a:extLst>
          </p:cNvPr>
          <p:cNvSpPr/>
          <p:nvPr/>
        </p:nvSpPr>
        <p:spPr>
          <a:xfrm>
            <a:off x="6160492" y="1900239"/>
            <a:ext cx="2703610" cy="37664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084FE6-2BC4-46CE-B887-F646907FD080}"/>
              </a:ext>
            </a:extLst>
          </p:cNvPr>
          <p:cNvSpPr/>
          <p:nvPr/>
        </p:nvSpPr>
        <p:spPr>
          <a:xfrm>
            <a:off x="9012138" y="1900239"/>
            <a:ext cx="2703610" cy="37664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5F968D20-8032-4F44-BC28-8CC5319A8754}"/>
              </a:ext>
            </a:extLst>
          </p:cNvPr>
          <p:cNvSpPr txBox="1">
            <a:spLocks/>
          </p:cNvSpPr>
          <p:nvPr/>
        </p:nvSpPr>
        <p:spPr>
          <a:xfrm>
            <a:off x="692147" y="2536052"/>
            <a:ext cx="2233714" cy="89255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>
                <a:solidFill>
                  <a:srgbClr val="102747"/>
                </a:solidFill>
              </a:rPr>
              <a:t>Data Engineer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CA" sz="1400">
                <a:solidFill>
                  <a:srgbClr val="2D3748"/>
                </a:solidFill>
              </a:rPr>
              <a:t>Data loading, cleaning pipeline, repository structure</a:t>
            </a:r>
            <a:endParaRPr lang="en-US" sz="1400">
              <a:solidFill>
                <a:srgbClr val="2D3748"/>
              </a:solidFill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C8FF1C7-08CE-415B-854C-F39E04F5B264}"/>
              </a:ext>
            </a:extLst>
          </p:cNvPr>
          <p:cNvCxnSpPr>
            <a:cxnSpLocks/>
          </p:cNvCxnSpPr>
          <p:nvPr/>
        </p:nvCxnSpPr>
        <p:spPr>
          <a:xfrm>
            <a:off x="692147" y="2938448"/>
            <a:ext cx="2233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D29A498B-F8BE-4323-8D42-B0FE8774A6D5}"/>
              </a:ext>
            </a:extLst>
          </p:cNvPr>
          <p:cNvSpPr txBox="1">
            <a:spLocks/>
          </p:cNvSpPr>
          <p:nvPr/>
        </p:nvSpPr>
        <p:spPr>
          <a:xfrm>
            <a:off x="3543793" y="2536052"/>
            <a:ext cx="2233714" cy="132343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>
                <a:solidFill>
                  <a:srgbClr val="102747"/>
                </a:solidFill>
              </a:rPr>
              <a:t>Data Scientist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CA" sz="1400">
                <a:solidFill>
                  <a:srgbClr val="2D3748"/>
                </a:solidFill>
              </a:rPr>
              <a:t>Bias analysis, fairness metrics, statistical testing, Proxy Variable Identification, Intersectional Bias Analysis</a:t>
            </a:r>
            <a:r>
              <a:rPr lang="en-CA" sz="1400" b="0" i="0">
                <a:solidFill>
                  <a:srgbClr val="1F2328"/>
                </a:solidFill>
                <a:effectLst/>
                <a:latin typeface="-apple-system"/>
              </a:rPr>
              <a:t>.</a:t>
            </a:r>
            <a:endParaRPr lang="en-US" sz="200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5457AFD-505E-4D72-99C1-F75656EF049C}"/>
              </a:ext>
            </a:extLst>
          </p:cNvPr>
          <p:cNvCxnSpPr>
            <a:cxnSpLocks/>
          </p:cNvCxnSpPr>
          <p:nvPr/>
        </p:nvCxnSpPr>
        <p:spPr>
          <a:xfrm>
            <a:off x="3543793" y="2938448"/>
            <a:ext cx="2233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D63F9972-4724-4BA2-AAC8-787C4AF24C23}"/>
              </a:ext>
            </a:extLst>
          </p:cNvPr>
          <p:cNvSpPr txBox="1">
            <a:spLocks/>
          </p:cNvSpPr>
          <p:nvPr/>
        </p:nvSpPr>
        <p:spPr>
          <a:xfrm>
            <a:off x="6395439" y="2536052"/>
            <a:ext cx="2233714" cy="110799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>
                <a:solidFill>
                  <a:srgbClr val="102747"/>
                </a:solidFill>
              </a:rPr>
              <a:t>Government Officer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CA" sz="1400">
                <a:solidFill>
                  <a:srgbClr val="2D3748"/>
                </a:solidFill>
              </a:rPr>
              <a:t>GDPR mapping, policy recommendations, compliance analysis</a:t>
            </a:r>
            <a:endParaRPr lang="en-US" sz="1400">
              <a:solidFill>
                <a:srgbClr val="2D3748"/>
              </a:solidFill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7A5A9BA-EB9A-4E00-AE74-68D43A8DC3E5}"/>
              </a:ext>
            </a:extLst>
          </p:cNvPr>
          <p:cNvCxnSpPr>
            <a:cxnSpLocks/>
          </p:cNvCxnSpPr>
          <p:nvPr/>
        </p:nvCxnSpPr>
        <p:spPr>
          <a:xfrm>
            <a:off x="6395439" y="2938448"/>
            <a:ext cx="2233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43CE600A-ADF3-414C-A174-23FBEE96FAD1}"/>
              </a:ext>
            </a:extLst>
          </p:cNvPr>
          <p:cNvSpPr txBox="1">
            <a:spLocks/>
          </p:cNvSpPr>
          <p:nvPr/>
        </p:nvSpPr>
        <p:spPr>
          <a:xfrm>
            <a:off x="9247086" y="2536052"/>
            <a:ext cx="2233714" cy="132343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>
                <a:solidFill>
                  <a:srgbClr val="102747"/>
                </a:solidFill>
              </a:rPr>
              <a:t>Product Lead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CA" sz="1400">
                <a:solidFill>
                  <a:srgbClr val="2D3748"/>
                </a:solidFill>
              </a:rPr>
              <a:t>Documentation, governance narrative, project coordination, Presentation, README documentation</a:t>
            </a:r>
            <a:endParaRPr lang="en-US" sz="1400">
              <a:solidFill>
                <a:srgbClr val="2D3748"/>
              </a:solidFill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A433434-0BE0-4F8B-80AA-C9AF92C0BB01}"/>
              </a:ext>
            </a:extLst>
          </p:cNvPr>
          <p:cNvCxnSpPr>
            <a:cxnSpLocks/>
          </p:cNvCxnSpPr>
          <p:nvPr/>
        </p:nvCxnSpPr>
        <p:spPr>
          <a:xfrm>
            <a:off x="9247086" y="2938448"/>
            <a:ext cx="2233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9CD58BC-B22D-4449-8421-A4307D871686}"/>
              </a:ext>
            </a:extLst>
          </p:cNvPr>
          <p:cNvSpPr txBox="1"/>
          <p:nvPr/>
        </p:nvSpPr>
        <p:spPr>
          <a:xfrm>
            <a:off x="1737360" y="1417119"/>
            <a:ext cx="1303020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/>
              <a:t>Selin</a:t>
            </a:r>
          </a:p>
          <a:p>
            <a:r>
              <a:rPr lang="en-US" err="1"/>
              <a:t>Gencer</a:t>
            </a:r>
            <a:r>
              <a:rPr lang="en-US"/>
              <a:t> </a:t>
            </a:r>
          </a:p>
          <a:p>
            <a:r>
              <a:rPr lang="en-US"/>
              <a:t>71414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D23D71E-B915-684D-B92A-2C428F2C4185}"/>
              </a:ext>
            </a:extLst>
          </p:cNvPr>
          <p:cNvSpPr txBox="1"/>
          <p:nvPr/>
        </p:nvSpPr>
        <p:spPr>
          <a:xfrm>
            <a:off x="4777590" y="1473001"/>
            <a:ext cx="13030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Matilde </a:t>
            </a:r>
          </a:p>
          <a:p>
            <a:r>
              <a:rPr lang="en-US"/>
              <a:t>Ferreira</a:t>
            </a:r>
          </a:p>
          <a:p>
            <a:r>
              <a:rPr lang="en-US"/>
              <a:t>56599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52367C5-CBE0-6040-8424-18453CFC578E}"/>
              </a:ext>
            </a:extLst>
          </p:cNvPr>
          <p:cNvSpPr txBox="1"/>
          <p:nvPr/>
        </p:nvSpPr>
        <p:spPr>
          <a:xfrm>
            <a:off x="7561082" y="1492145"/>
            <a:ext cx="13030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Bernardo</a:t>
            </a:r>
          </a:p>
          <a:p>
            <a:r>
              <a:rPr lang="en-US"/>
              <a:t>Baptista</a:t>
            </a:r>
          </a:p>
          <a:p>
            <a:r>
              <a:rPr lang="en-US"/>
              <a:t>56783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C489BA4-3F49-804A-8BB3-B2760EE0D4D6}"/>
              </a:ext>
            </a:extLst>
          </p:cNvPr>
          <p:cNvSpPr txBox="1"/>
          <p:nvPr/>
        </p:nvSpPr>
        <p:spPr>
          <a:xfrm>
            <a:off x="10431004" y="1494098"/>
            <a:ext cx="13030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Miguel </a:t>
            </a:r>
          </a:p>
          <a:p>
            <a:r>
              <a:rPr lang="en-US"/>
              <a:t>Xu </a:t>
            </a:r>
          </a:p>
          <a:p>
            <a:r>
              <a:rPr lang="en-US"/>
              <a:t>56323</a:t>
            </a:r>
          </a:p>
        </p:txBody>
      </p:sp>
      <p:pic>
        <p:nvPicPr>
          <p:cNvPr id="8" name="Picture 7" descr="A person in a black suit&#10;&#10;AI-generated content may be incorrect.">
            <a:extLst>
              <a:ext uri="{FF2B5EF4-FFF2-40B4-BE49-F238E27FC236}">
                <a16:creationId xmlns:a16="http://schemas.microsoft.com/office/drawing/2014/main" id="{93BD5BA9-879F-FC1D-1E02-FE7FA7CEA92C}"/>
              </a:ext>
            </a:extLst>
          </p:cNvPr>
          <p:cNvPicPr>
            <a:picLocks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83544" y="1152810"/>
            <a:ext cx="1198800" cy="1198800"/>
          </a:xfrm>
          <a:prstGeom prst="ellipse">
            <a:avLst/>
          </a:prstGeom>
          <a:ln>
            <a:noFill/>
          </a:ln>
          <a:effectLst>
            <a:outerShdw sx="1000" sy="1000" algn="tl" rotWithShape="0">
              <a:srgbClr val="000000"/>
            </a:outerShdw>
          </a:effectLst>
        </p:spPr>
      </p:pic>
      <p:pic>
        <p:nvPicPr>
          <p:cNvPr id="13" name="Picture 12" descr="A person in a suit and tie&#10;&#10;Description automatically generated">
            <a:extLst>
              <a:ext uri="{FF2B5EF4-FFF2-40B4-BE49-F238E27FC236}">
                <a16:creationId xmlns:a16="http://schemas.microsoft.com/office/drawing/2014/main" id="{47491C38-2AE4-AD4D-A154-88BFBC4967F0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22171" y="1152809"/>
            <a:ext cx="1198800" cy="1264617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5" name="Picture 4" descr="A person in a suit&#10;&#10;AI-generated content may be incorrect.">
            <a:extLst>
              <a:ext uri="{FF2B5EF4-FFF2-40B4-BE49-F238E27FC236}">
                <a16:creationId xmlns:a16="http://schemas.microsoft.com/office/drawing/2014/main" id="{C8FAF09F-048D-E7A3-BE33-E3EAFB3E19CF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287900" y="1191295"/>
            <a:ext cx="1198800" cy="1198800"/>
          </a:xfrm>
          <a:prstGeom prst="ellipse">
            <a:avLst/>
          </a:prstGeom>
        </p:spPr>
      </p:pic>
      <p:pic>
        <p:nvPicPr>
          <p:cNvPr id="18" name="Picture 17" descr="A person smiling at camera&#10;&#10;AI-generated content may be incorrect.">
            <a:extLst>
              <a:ext uri="{FF2B5EF4-FFF2-40B4-BE49-F238E27FC236}">
                <a16:creationId xmlns:a16="http://schemas.microsoft.com/office/drawing/2014/main" id="{155B9337-6521-7469-B9DA-84297177FF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5722" y="1152810"/>
            <a:ext cx="1201703" cy="11988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016831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EB3EB-D02A-4B2A-9829-29CDD5B66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630" y="1776219"/>
            <a:ext cx="5449824" cy="4096913"/>
          </a:xfrm>
        </p:spPr>
        <p:txBody>
          <a:bodyPr lIns="0" tIns="0" rIns="0" bIns="0" anchor="t">
            <a:no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err="1">
                <a:solidFill>
                  <a:srgbClr val="2D3748"/>
                </a:solidFill>
              </a:rPr>
              <a:t>NovaCred</a:t>
            </a:r>
            <a:r>
              <a:rPr lang="en-US" sz="1400">
                <a:solidFill>
                  <a:srgbClr val="2D3748"/>
                </a:solidFill>
              </a:rPr>
              <a:t> is a fintech startup operating in </a:t>
            </a:r>
            <a:r>
              <a:rPr lang="en-US" sz="1400" b="1">
                <a:solidFill>
                  <a:srgbClr val="2D3748"/>
                </a:solidFill>
              </a:rPr>
              <a:t>consumer credit decisions</a:t>
            </a:r>
            <a:r>
              <a:rPr lang="en-US" sz="1400">
                <a:solidFill>
                  <a:srgbClr val="2D3748"/>
                </a:solidFill>
              </a:rPr>
              <a:t>, a heavily regulated space. 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1400">
                <a:solidFill>
                  <a:srgbClr val="2D3748"/>
                </a:solidFill>
              </a:rPr>
              <a:t>Following a regulatory inquiry into </a:t>
            </a:r>
            <a:r>
              <a:rPr lang="en-US" sz="1400" b="1">
                <a:solidFill>
                  <a:srgbClr val="2D3748"/>
                </a:solidFill>
              </a:rPr>
              <a:t>potential discrimination in lending practices</a:t>
            </a:r>
            <a:r>
              <a:rPr lang="en-US" sz="1400">
                <a:solidFill>
                  <a:srgbClr val="2D3748"/>
                </a:solidFill>
              </a:rPr>
              <a:t>, our team was engaged as a Data Governance Task Force to audit the full data pipeline.</a:t>
            </a:r>
          </a:p>
          <a:p>
            <a:pPr marL="0" indent="0">
              <a:lnSpc>
                <a:spcPct val="135000"/>
              </a:lnSpc>
              <a:buNone/>
            </a:pPr>
            <a:endParaRPr lang="en-US" sz="1400">
              <a:solidFill>
                <a:srgbClr val="2D3748"/>
              </a:solidFill>
            </a:endParaRPr>
          </a:p>
          <a:p>
            <a:pPr marL="0" indent="0">
              <a:lnSpc>
                <a:spcPct val="135000"/>
              </a:lnSpc>
              <a:buNone/>
            </a:pPr>
            <a:endParaRPr lang="en-US" sz="1400">
              <a:solidFill>
                <a:srgbClr val="2D3748"/>
              </a:solidFill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400">
                <a:solidFill>
                  <a:srgbClr val="2D3748"/>
                </a:solidFill>
              </a:rPr>
              <a:t>The analysis consists in:</a:t>
            </a:r>
          </a:p>
          <a:p>
            <a:r>
              <a:rPr lang="en-CA" sz="1400"/>
              <a:t>A data quality assessment, </a:t>
            </a:r>
          </a:p>
          <a:p>
            <a:r>
              <a:rPr lang="en-CA" sz="1400"/>
              <a:t>An algorithmic fairness audit, </a:t>
            </a:r>
          </a:p>
          <a:p>
            <a:r>
              <a:rPr lang="en-CA" sz="1400"/>
              <a:t>A regulatory compliance review under GDPR and the EU AI Act </a:t>
            </a:r>
          </a:p>
          <a:p>
            <a:r>
              <a:rPr lang="en-CA" sz="1400"/>
              <a:t>The development of actionable governance recommendations</a:t>
            </a:r>
            <a:endParaRPr lang="en-US" sz="1400"/>
          </a:p>
          <a:p>
            <a:pPr marL="0" indent="0">
              <a:lnSpc>
                <a:spcPct val="135000"/>
              </a:lnSpc>
              <a:buNone/>
            </a:pPr>
            <a:endParaRPr lang="en-US" sz="1400">
              <a:solidFill>
                <a:srgbClr val="2D3748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19ADDA-F337-4788-86F1-266D5676F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365125"/>
            <a:ext cx="11258550" cy="701675"/>
          </a:xfrm>
        </p:spPr>
        <p:txBody>
          <a:bodyPr lIns="0" tIns="0" rIns="0" bIns="0" anchor="ctr">
            <a:normAutofit/>
          </a:bodyPr>
          <a:lstStyle/>
          <a:p>
            <a:r>
              <a:rPr lang="en-US" sz="2800"/>
              <a:t>Introduction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DF7546-5B53-457F-BF1F-872AA9DC4568}"/>
              </a:ext>
            </a:extLst>
          </p:cNvPr>
          <p:cNvSpPr/>
          <p:nvPr/>
        </p:nvSpPr>
        <p:spPr>
          <a:xfrm>
            <a:off x="0" y="365125"/>
            <a:ext cx="275771" cy="701675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19D98-9AE7-44E7-8F60-792F270F2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6287" y="6275388"/>
            <a:ext cx="388513" cy="365125"/>
          </a:xfrm>
          <a:solidFill>
            <a:srgbClr val="102747"/>
          </a:solidFill>
        </p:spPr>
        <p:txBody>
          <a:bodyPr/>
          <a:lstStyle/>
          <a:p>
            <a:pPr algn="ctr"/>
            <a:fld id="{20ACEE5B-6B89-47D3-A969-11CC9D54FA43}" type="slidenum">
              <a:rPr lang="en-US" smtClean="0">
                <a:solidFill>
                  <a:schemeClr val="bg1"/>
                </a:solidFill>
              </a:rPr>
              <a:pPr algn="ctr"/>
              <a:t>3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B6EFDB5-FC2B-49AA-A879-65DB711D8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6250" y="6275388"/>
            <a:ext cx="4114800" cy="365125"/>
          </a:xfrm>
        </p:spPr>
        <p:txBody>
          <a:bodyPr lIns="0"/>
          <a:lstStyle/>
          <a:p>
            <a:pPr algn="l"/>
            <a:r>
              <a:rPr lang="en-US" err="1"/>
              <a:t>Dego</a:t>
            </a:r>
            <a:r>
              <a:rPr lang="en-US"/>
              <a:t> 2606|Msc Business </a:t>
            </a:r>
            <a:r>
              <a:rPr lang="en-US" err="1"/>
              <a:t>Analytics|Team</a:t>
            </a:r>
            <a:r>
              <a:rPr lang="en-US"/>
              <a:t> 9|Txa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B636B81-E366-40A1-A22C-E23DE020F5B1}"/>
              </a:ext>
            </a:extLst>
          </p:cNvPr>
          <p:cNvCxnSpPr/>
          <p:nvPr/>
        </p:nvCxnSpPr>
        <p:spPr>
          <a:xfrm>
            <a:off x="4723238" y="6457950"/>
            <a:ext cx="649086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537E66E-CC66-4916-9074-FD3B7FF1F6E6}"/>
              </a:ext>
            </a:extLst>
          </p:cNvPr>
          <p:cNvSpPr txBox="1">
            <a:spLocks/>
          </p:cNvSpPr>
          <p:nvPr/>
        </p:nvSpPr>
        <p:spPr>
          <a:xfrm>
            <a:off x="476250" y="3753512"/>
            <a:ext cx="5449824" cy="3077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aramond" panose="02020404030301010803" pitchFamily="18" charset="0"/>
              <a:buNone/>
              <a:defRPr sz="2000" b="0" i="0" u="none" strike="noStrike" kern="1200" spc="0" baseline="0">
                <a:solidFill>
                  <a:srgbClr val="102747"/>
                </a:solidFill>
                <a:latin typeface="+mn-lt"/>
                <a:ea typeface="+mn-ea"/>
                <a:cs typeface="+mn-cs"/>
              </a:defRPr>
            </a:pPr>
            <a:r>
              <a:rPr lang="en-US" sz="2000">
                <a:solidFill>
                  <a:srgbClr val="102747"/>
                </a:solidFill>
              </a:rPr>
              <a:t>Our Mission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9930F63-867C-450B-92C6-3CA38D984955}"/>
              </a:ext>
            </a:extLst>
          </p:cNvPr>
          <p:cNvCxnSpPr>
            <a:cxnSpLocks/>
          </p:cNvCxnSpPr>
          <p:nvPr/>
        </p:nvCxnSpPr>
        <p:spPr>
          <a:xfrm>
            <a:off x="476250" y="1664628"/>
            <a:ext cx="5449824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C6402A8A-41DA-4EF8-83E0-8EF6559A8B08}"/>
              </a:ext>
            </a:extLst>
          </p:cNvPr>
          <p:cNvSpPr txBox="1">
            <a:spLocks/>
          </p:cNvSpPr>
          <p:nvPr/>
        </p:nvSpPr>
        <p:spPr>
          <a:xfrm>
            <a:off x="6284976" y="1241090"/>
            <a:ext cx="5449824" cy="3077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aramond" panose="02020404030301010803" pitchFamily="18" charset="0"/>
              <a:buNone/>
              <a:defRPr sz="2000" b="0" i="0" u="none" strike="noStrike" kern="1200" spc="0" baseline="0">
                <a:solidFill>
                  <a:srgbClr val="102747"/>
                </a:solidFill>
                <a:latin typeface="+mn-lt"/>
                <a:ea typeface="+mn-ea"/>
                <a:cs typeface="+mn-cs"/>
              </a:defRPr>
            </a:pPr>
            <a:r>
              <a:rPr lang="en-US" sz="2000">
                <a:solidFill>
                  <a:srgbClr val="102747"/>
                </a:solidFill>
              </a:rPr>
              <a:t>Dataset Overview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CAD134E-B413-436C-8A34-8D5A4567650C}"/>
              </a:ext>
            </a:extLst>
          </p:cNvPr>
          <p:cNvCxnSpPr>
            <a:cxnSpLocks/>
          </p:cNvCxnSpPr>
          <p:nvPr/>
        </p:nvCxnSpPr>
        <p:spPr>
          <a:xfrm>
            <a:off x="6284976" y="1666571"/>
            <a:ext cx="5449824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CAA337A-FD58-D649-899D-B0A08639ED00}"/>
              </a:ext>
            </a:extLst>
          </p:cNvPr>
          <p:cNvSpPr txBox="1">
            <a:spLocks/>
          </p:cNvSpPr>
          <p:nvPr/>
        </p:nvSpPr>
        <p:spPr>
          <a:xfrm>
            <a:off x="6813164" y="4557406"/>
            <a:ext cx="835914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aramond" panose="02020404030301010803" pitchFamily="18" charset="0"/>
              <a:buNone/>
              <a:defRPr sz="2000" b="0" i="0" u="none" strike="noStrike" kern="1200" spc="0" baseline="0">
                <a:solidFill>
                  <a:srgbClr val="102747"/>
                </a:solidFill>
                <a:latin typeface="+mn-lt"/>
                <a:ea typeface="+mn-ea"/>
                <a:cs typeface="+mn-cs"/>
              </a:defRPr>
            </a:pPr>
            <a:r>
              <a:rPr lang="en-US" sz="2000">
                <a:solidFill>
                  <a:srgbClr val="102747"/>
                </a:solidFill>
              </a:rPr>
              <a:t>Distinct Quality Issues </a:t>
            </a:r>
          </a:p>
        </p:txBody>
      </p:sp>
      <p:graphicFrame>
        <p:nvGraphicFramePr>
          <p:cNvPr id="14" name="Table 11">
            <a:extLst>
              <a:ext uri="{FF2B5EF4-FFF2-40B4-BE49-F238E27FC236}">
                <a16:creationId xmlns:a16="http://schemas.microsoft.com/office/drawing/2014/main" id="{53AF1AC4-8966-8543-BE2C-ECB015B4A6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76465"/>
              </p:ext>
            </p:extLst>
          </p:nvPr>
        </p:nvGraphicFramePr>
        <p:xfrm>
          <a:off x="6251715" y="2014098"/>
          <a:ext cx="5590795" cy="19889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0484">
                  <a:extLst>
                    <a:ext uri="{9D8B030D-6E8A-4147-A177-3AD203B41FA5}">
                      <a16:colId xmlns:a16="http://schemas.microsoft.com/office/drawing/2014/main" val="4225973377"/>
                    </a:ext>
                  </a:extLst>
                </a:gridCol>
                <a:gridCol w="4180311">
                  <a:extLst>
                    <a:ext uri="{9D8B030D-6E8A-4147-A177-3AD203B41FA5}">
                      <a16:colId xmlns:a16="http://schemas.microsoft.com/office/drawing/2014/main" val="1437423842"/>
                    </a:ext>
                  </a:extLst>
                </a:gridCol>
              </a:tblGrid>
              <a:tr h="239435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Field Group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27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Key Field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27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2529384"/>
                  </a:ext>
                </a:extLst>
              </a:tr>
              <a:tr h="217668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Identity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/>
                        <a:t>id</a:t>
                      </a:r>
                      <a:r>
                        <a:rPr lang="en-CA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CA" sz="1200"/>
                        <a:t>name</a:t>
                      </a:r>
                      <a:r>
                        <a:rPr lang="en-CA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CA" sz="1200"/>
                        <a:t>email</a:t>
                      </a:r>
                      <a:r>
                        <a:rPr lang="en-CA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CA" sz="1200" err="1"/>
                        <a:t>ssn</a:t>
                      </a:r>
                      <a:r>
                        <a:rPr lang="en-CA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CA" sz="1200" err="1"/>
                        <a:t>ip</a:t>
                      </a:r>
                      <a:r>
                        <a:rPr lang="en-CA" sz="1200"/>
                        <a:t> address</a:t>
                      </a:r>
                      <a:endParaRPr lang="en-US" sz="12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9129035"/>
                  </a:ext>
                </a:extLst>
              </a:tr>
              <a:tr h="330631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Demographic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/>
                        <a:t>gender</a:t>
                      </a:r>
                      <a:r>
                        <a:rPr lang="en-CA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CA" sz="1200"/>
                        <a:t>date of birth</a:t>
                      </a:r>
                      <a:r>
                        <a:rPr lang="en-CA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CA" sz="1200"/>
                        <a:t>zip code</a:t>
                      </a:r>
                      <a:endParaRPr lang="en-US" sz="12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3604465"/>
                  </a:ext>
                </a:extLst>
              </a:tr>
              <a:tr h="365435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Financials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/>
                        <a:t>income</a:t>
                      </a:r>
                      <a:r>
                        <a:rPr lang="en-CA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CA" sz="1200"/>
                        <a:t>credit history</a:t>
                      </a:r>
                      <a:r>
                        <a:rPr lang="en-CA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CA" sz="1200"/>
                        <a:t>debt to income</a:t>
                      </a:r>
                      <a:r>
                        <a:rPr lang="en-CA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CA" sz="1200"/>
                        <a:t>savings </a:t>
                      </a:r>
                      <a:endParaRPr lang="en-US" sz="12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3887201"/>
                  </a:ext>
                </a:extLst>
              </a:tr>
              <a:tr h="348033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Decision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/>
                        <a:t>Loan approved</a:t>
                      </a:r>
                      <a:r>
                        <a:rPr lang="en-CA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CA" sz="1200"/>
                        <a:t>interest rate</a:t>
                      </a:r>
                      <a:r>
                        <a:rPr lang="en-CA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CA" sz="1200"/>
                        <a:t>approved amount</a:t>
                      </a:r>
                      <a:r>
                        <a:rPr lang="en-CA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CA" sz="1200"/>
                        <a:t>rejection reason</a:t>
                      </a:r>
                      <a:endParaRPr lang="en-US" sz="12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792027"/>
                  </a:ext>
                </a:extLst>
              </a:tr>
              <a:tr h="217668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Metadata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/>
                        <a:t>Processing timestamp</a:t>
                      </a:r>
                      <a:r>
                        <a:rPr lang="en-CA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CA" sz="1200"/>
                        <a:t>loan purpose</a:t>
                      </a:r>
                      <a:r>
                        <a:rPr lang="en-CA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CA" sz="1200"/>
                        <a:t>notes</a:t>
                      </a:r>
                      <a:endParaRPr lang="en-US" sz="12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777894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87F72B5-D753-D741-AC36-9902D7585CF0}"/>
              </a:ext>
            </a:extLst>
          </p:cNvPr>
          <p:cNvSpPr txBox="1"/>
          <p:nvPr/>
        </p:nvSpPr>
        <p:spPr>
          <a:xfrm>
            <a:off x="6168825" y="1709004"/>
            <a:ext cx="55907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>
                <a:solidFill>
                  <a:srgbClr val="2D3748"/>
                </a:solidFill>
              </a:rPr>
              <a:t>Total records</a:t>
            </a:r>
            <a:r>
              <a:rPr lang="en-CA" sz="1400">
                <a:solidFill>
                  <a:srgbClr val="2D3748"/>
                </a:solidFill>
              </a:rPr>
              <a:t>: 502 (nested JSON, flattened for analysis</a:t>
            </a:r>
            <a:r>
              <a:rPr lang="en-CA" sz="1400">
                <a:solidFill>
                  <a:srgbClr val="1F2328"/>
                </a:solidFill>
                <a:latin typeface="-apple-system"/>
              </a:rPr>
              <a:t>)</a:t>
            </a:r>
            <a:endParaRPr lang="en-CA" b="0" i="0">
              <a:solidFill>
                <a:srgbClr val="1F2328"/>
              </a:solidFill>
              <a:effectLst/>
              <a:latin typeface="-apple-system"/>
            </a:endParaRPr>
          </a:p>
          <a:p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B78CA87D-FA58-F34B-9955-59AF20A3C2E2}"/>
              </a:ext>
            </a:extLst>
          </p:cNvPr>
          <p:cNvSpPr txBox="1">
            <a:spLocks/>
          </p:cNvSpPr>
          <p:nvPr/>
        </p:nvSpPr>
        <p:spPr>
          <a:xfrm>
            <a:off x="6183630" y="4107645"/>
            <a:ext cx="5449824" cy="3077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aramond" panose="02020404030301010803" pitchFamily="18" charset="0"/>
              <a:buNone/>
              <a:defRPr sz="2000" b="0" i="0" u="none" strike="noStrike" kern="1200" spc="0" baseline="0">
                <a:solidFill>
                  <a:srgbClr val="102747"/>
                </a:solidFill>
                <a:latin typeface="+mn-lt"/>
                <a:ea typeface="+mn-ea"/>
                <a:cs typeface="+mn-cs"/>
              </a:defRPr>
            </a:pPr>
            <a:r>
              <a:rPr lang="en-US" sz="2000">
                <a:solidFill>
                  <a:srgbClr val="102747"/>
                </a:solidFill>
              </a:rPr>
              <a:t>Key Findings: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515FD3E-0C84-B445-A981-2F0B7FAE4BFB}"/>
              </a:ext>
            </a:extLst>
          </p:cNvPr>
          <p:cNvGrpSpPr/>
          <p:nvPr/>
        </p:nvGrpSpPr>
        <p:grpSpPr>
          <a:xfrm>
            <a:off x="6172934" y="4573941"/>
            <a:ext cx="520890" cy="520890"/>
            <a:chOff x="476251" y="1400628"/>
            <a:chExt cx="599622" cy="599622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E047FE2-235A-5348-9985-1A71E99468B9}"/>
                </a:ext>
              </a:extLst>
            </p:cNvPr>
            <p:cNvSpPr/>
            <p:nvPr/>
          </p:nvSpPr>
          <p:spPr>
            <a:xfrm>
              <a:off x="476251" y="1400628"/>
              <a:ext cx="599622" cy="599622"/>
            </a:xfrm>
            <a:prstGeom prst="rect">
              <a:avLst/>
            </a:prstGeom>
            <a:solidFill>
              <a:srgbClr val="1027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1FFA943-20D0-CC46-8DE8-D9B49CA7D3F6}"/>
                </a:ext>
              </a:extLst>
            </p:cNvPr>
            <p:cNvSpPr/>
            <p:nvPr/>
          </p:nvSpPr>
          <p:spPr>
            <a:xfrm>
              <a:off x="554627" y="1424968"/>
              <a:ext cx="442872" cy="566875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en-US" sz="3200">
                  <a:solidFill>
                    <a:schemeClr val="bg1"/>
                  </a:solidFill>
                </a:rPr>
                <a:t>13</a:t>
              </a:r>
            </a:p>
          </p:txBody>
        </p:sp>
      </p:grp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64CD4B48-C65E-AA46-A5E9-CB7520A98657}"/>
              </a:ext>
            </a:extLst>
          </p:cNvPr>
          <p:cNvSpPr txBox="1">
            <a:spLocks/>
          </p:cNvSpPr>
          <p:nvPr/>
        </p:nvSpPr>
        <p:spPr>
          <a:xfrm>
            <a:off x="8051473" y="5241673"/>
            <a:ext cx="5449824" cy="3077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aramond" panose="02020404030301010803" pitchFamily="18" charset="0"/>
              <a:buNone/>
              <a:defRPr sz="2000" b="0" i="0" u="none" strike="noStrike" kern="1200" spc="0" baseline="0">
                <a:solidFill>
                  <a:srgbClr val="102747"/>
                </a:solidFill>
                <a:latin typeface="+mn-lt"/>
                <a:ea typeface="+mn-ea"/>
                <a:cs typeface="+mn-cs"/>
              </a:defRPr>
            </a:pPr>
            <a:r>
              <a:rPr lang="en-US" sz="2000">
                <a:solidFill>
                  <a:srgbClr val="102747"/>
                </a:solidFill>
              </a:rPr>
              <a:t>EU AI ACT (Credit Scoring) 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6221167-F6BF-7940-8984-8B0A782ECBDB}"/>
              </a:ext>
            </a:extLst>
          </p:cNvPr>
          <p:cNvSpPr/>
          <p:nvPr/>
        </p:nvSpPr>
        <p:spPr>
          <a:xfrm>
            <a:off x="8051473" y="4594251"/>
            <a:ext cx="3377618" cy="492443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63322FB0-C3E2-C94C-A90F-43776817E082}"/>
              </a:ext>
            </a:extLst>
          </p:cNvPr>
          <p:cNvSpPr txBox="1">
            <a:spLocks/>
          </p:cNvSpPr>
          <p:nvPr/>
        </p:nvSpPr>
        <p:spPr>
          <a:xfrm>
            <a:off x="476250" y="1241920"/>
            <a:ext cx="5449824" cy="3077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aramond" panose="02020404030301010803" pitchFamily="18" charset="0"/>
              <a:buNone/>
              <a:defRPr sz="2000" b="0" i="0" u="none" strike="noStrike" kern="1200" spc="0" baseline="0">
                <a:solidFill>
                  <a:srgbClr val="102747"/>
                </a:solidFill>
                <a:latin typeface="+mn-lt"/>
                <a:ea typeface="+mn-ea"/>
                <a:cs typeface="+mn-cs"/>
              </a:defRPr>
            </a:pPr>
            <a:r>
              <a:rPr lang="en-US" sz="2000">
                <a:solidFill>
                  <a:srgbClr val="102747"/>
                </a:solidFill>
              </a:rPr>
              <a:t>Context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C7899AF-4601-AA43-98A7-859E40B2BD53}"/>
              </a:ext>
            </a:extLst>
          </p:cNvPr>
          <p:cNvSpPr/>
          <p:nvPr/>
        </p:nvSpPr>
        <p:spPr>
          <a:xfrm>
            <a:off x="8089295" y="4535228"/>
            <a:ext cx="3207609" cy="492443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</a:rPr>
              <a:t>High-risk AI system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312BCC7-D761-AF4B-B893-A3906C350A58}"/>
              </a:ext>
            </a:extLst>
          </p:cNvPr>
          <p:cNvCxnSpPr>
            <a:cxnSpLocks/>
          </p:cNvCxnSpPr>
          <p:nvPr/>
        </p:nvCxnSpPr>
        <p:spPr>
          <a:xfrm>
            <a:off x="468630" y="4170084"/>
            <a:ext cx="5449824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6841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AECCE-4C35-49A1-BB74-44906FC9A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F89FB2D-328B-A8E7-6FF4-B25B328A11CD}"/>
              </a:ext>
            </a:extLst>
          </p:cNvPr>
          <p:cNvSpPr/>
          <p:nvPr/>
        </p:nvSpPr>
        <p:spPr>
          <a:xfrm>
            <a:off x="0" y="4038601"/>
            <a:ext cx="855406" cy="2095496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796584A-30DC-C110-146C-3C3D89F10FAD}"/>
              </a:ext>
            </a:extLst>
          </p:cNvPr>
          <p:cNvGrpSpPr/>
          <p:nvPr/>
        </p:nvGrpSpPr>
        <p:grpSpPr>
          <a:xfrm>
            <a:off x="1297542" y="4266919"/>
            <a:ext cx="8063425" cy="1065653"/>
            <a:chOff x="810520" y="2509978"/>
            <a:chExt cx="8063425" cy="106565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AB66431-D6C3-86D9-B494-012D1469E2C7}"/>
                </a:ext>
              </a:extLst>
            </p:cNvPr>
            <p:cNvSpPr txBox="1"/>
            <p:nvPr/>
          </p:nvSpPr>
          <p:spPr>
            <a:xfrm>
              <a:off x="810520" y="2509978"/>
              <a:ext cx="8063425" cy="923330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r>
                <a:rPr lang="en-US" sz="6000">
                  <a:solidFill>
                    <a:srgbClr val="102747"/>
                  </a:solidFill>
                  <a:latin typeface="Garamond" panose="02020404030301010803" pitchFamily="18" charset="0"/>
                </a:rPr>
                <a:t>Data Quality Findings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1FE1075-E78A-8408-DD76-EAA494888FC4}"/>
                </a:ext>
              </a:extLst>
            </p:cNvPr>
            <p:cNvCxnSpPr>
              <a:cxnSpLocks/>
            </p:cNvCxnSpPr>
            <p:nvPr/>
          </p:nvCxnSpPr>
          <p:spPr>
            <a:xfrm>
              <a:off x="810520" y="3575631"/>
              <a:ext cx="8063425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0C2B604E-8384-0C51-AE1D-D8B524B8E4AE}"/>
              </a:ext>
            </a:extLst>
          </p:cNvPr>
          <p:cNvSpPr/>
          <p:nvPr/>
        </p:nvSpPr>
        <p:spPr>
          <a:xfrm>
            <a:off x="9803102" y="4038601"/>
            <a:ext cx="2388897" cy="2095496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81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19D98-9AE7-44E7-8F60-792F270F2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6287" y="6275388"/>
            <a:ext cx="388513" cy="365125"/>
          </a:xfrm>
          <a:solidFill>
            <a:srgbClr val="102747"/>
          </a:solidFill>
        </p:spPr>
        <p:txBody>
          <a:bodyPr/>
          <a:lstStyle/>
          <a:p>
            <a:pPr algn="ctr"/>
            <a:fld id="{20ACEE5B-6B89-47D3-A969-11CC9D54FA43}" type="slidenum">
              <a:rPr lang="en-US" smtClean="0">
                <a:solidFill>
                  <a:schemeClr val="bg1"/>
                </a:solidFill>
              </a:rPr>
              <a:pPr algn="ctr"/>
              <a:t>5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B6EFDB5-FC2B-49AA-A879-65DB711D8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6250" y="6275388"/>
            <a:ext cx="4114800" cy="365125"/>
          </a:xfrm>
        </p:spPr>
        <p:txBody>
          <a:bodyPr lIns="0"/>
          <a:lstStyle/>
          <a:p>
            <a:pPr algn="l"/>
            <a:r>
              <a:rPr lang="en-US" err="1"/>
              <a:t>Dego</a:t>
            </a:r>
            <a:r>
              <a:rPr lang="en-US"/>
              <a:t> 2606|Msc Business </a:t>
            </a:r>
            <a:r>
              <a:rPr lang="en-US" err="1"/>
              <a:t>Analytics|Team</a:t>
            </a:r>
            <a:r>
              <a:rPr lang="en-US"/>
              <a:t> 9|Txa</a:t>
            </a:r>
          </a:p>
          <a:p>
            <a:pPr algn="l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B636B81-E366-40A1-A22C-E23DE020F5B1}"/>
              </a:ext>
            </a:extLst>
          </p:cNvPr>
          <p:cNvCxnSpPr/>
          <p:nvPr/>
        </p:nvCxnSpPr>
        <p:spPr>
          <a:xfrm>
            <a:off x="4723238" y="6457950"/>
            <a:ext cx="649086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CDB853E-776F-45FF-9101-292BB98A25ED}"/>
              </a:ext>
            </a:extLst>
          </p:cNvPr>
          <p:cNvSpPr txBox="1">
            <a:spLocks/>
          </p:cNvSpPr>
          <p:nvPr/>
        </p:nvSpPr>
        <p:spPr>
          <a:xfrm>
            <a:off x="4442279" y="2071197"/>
            <a:ext cx="3326493" cy="1046440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/>
              <a:t>Gender encoding – 114 records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/>
              <a:t>DOB formatting – 157 records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/>
              <a:t>Annual Income as string - 10 records 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02D04C75-9D7E-4858-925A-F3C1C5D41E53}"/>
              </a:ext>
            </a:extLst>
          </p:cNvPr>
          <p:cNvSpPr txBox="1">
            <a:spLocks/>
          </p:cNvSpPr>
          <p:nvPr/>
        </p:nvSpPr>
        <p:spPr>
          <a:xfrm>
            <a:off x="476251" y="2040306"/>
            <a:ext cx="3326493" cy="169277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/>
              <a:t>Processing Timestamp (~88%)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/>
              <a:t>Key Quasi-Identifiers PII (</a:t>
            </a:r>
            <a:r>
              <a:rPr lang="en-US" sz="1600">
                <a:solidFill>
                  <a:srgbClr val="2C2C2C"/>
                </a:solidFill>
              </a:rPr>
              <a:t>SSN, Email, DOB, Income) ~1%</a:t>
            </a:r>
            <a:endParaRPr lang="en-US" sz="16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lang="en-US" sz="1600">
              <a:solidFill>
                <a:srgbClr val="2C2C2C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endParaRPr lang="en-US" sz="160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94901968-E3F2-41E5-B3E4-A470FC50A969}"/>
              </a:ext>
            </a:extLst>
          </p:cNvPr>
          <p:cNvSpPr txBox="1">
            <a:spLocks/>
          </p:cNvSpPr>
          <p:nvPr/>
        </p:nvSpPr>
        <p:spPr>
          <a:xfrm>
            <a:off x="4398410" y="4187939"/>
            <a:ext cx="3326493" cy="24622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aramond" panose="02020404030301010803" pitchFamily="18" charset="0"/>
              <a:buNone/>
            </a:pPr>
            <a:r>
              <a:rPr lang="en-US" sz="1600"/>
              <a:t>Processing timestamp set in the future – 2 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9A6C5599-4C7A-4B4C-9801-58C2F0E89429}"/>
              </a:ext>
            </a:extLst>
          </p:cNvPr>
          <p:cNvSpPr txBox="1">
            <a:spLocks/>
          </p:cNvSpPr>
          <p:nvPr/>
        </p:nvSpPr>
        <p:spPr>
          <a:xfrm>
            <a:off x="476251" y="4261569"/>
            <a:ext cx="3326493" cy="1292662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/>
              <a:t>Social Security Number duplicates – 3 pairs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/>
              <a:t>Id duplicates – 2 pairs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aramond" panose="02020404030301010803" pitchFamily="18" charset="0"/>
              <a:buNone/>
            </a:pPr>
            <a:r>
              <a:rPr lang="en-US" sz="1600"/>
              <a:t> 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2720B08-7733-4BFE-B1C0-AA8FB6D919DB}"/>
              </a:ext>
            </a:extLst>
          </p:cNvPr>
          <p:cNvGrpSpPr/>
          <p:nvPr/>
        </p:nvGrpSpPr>
        <p:grpSpPr>
          <a:xfrm>
            <a:off x="476251" y="1400628"/>
            <a:ext cx="520890" cy="520890"/>
            <a:chOff x="476251" y="1400628"/>
            <a:chExt cx="599622" cy="59962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F97FBEE-A08E-48D2-8C49-C82824C2F92D}"/>
                </a:ext>
              </a:extLst>
            </p:cNvPr>
            <p:cNvSpPr/>
            <p:nvPr/>
          </p:nvSpPr>
          <p:spPr>
            <a:xfrm>
              <a:off x="476251" y="1400628"/>
              <a:ext cx="599622" cy="599622"/>
            </a:xfrm>
            <a:prstGeom prst="rect">
              <a:avLst/>
            </a:prstGeom>
            <a:solidFill>
              <a:srgbClr val="1027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C69E152-E48F-4AE7-8291-D5175D126DF1}"/>
                </a:ext>
              </a:extLst>
            </p:cNvPr>
            <p:cNvSpPr/>
            <p:nvPr/>
          </p:nvSpPr>
          <p:spPr>
            <a:xfrm>
              <a:off x="679882" y="1462183"/>
              <a:ext cx="192360" cy="492443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en-US" sz="320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140F1CB-45E2-4D2D-B71F-3A677948CAF3}"/>
              </a:ext>
            </a:extLst>
          </p:cNvPr>
          <p:cNvGrpSpPr/>
          <p:nvPr/>
        </p:nvGrpSpPr>
        <p:grpSpPr>
          <a:xfrm>
            <a:off x="4442279" y="1400628"/>
            <a:ext cx="520890" cy="520890"/>
            <a:chOff x="4442279" y="1400628"/>
            <a:chExt cx="599622" cy="599622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2DEC4E86-B31F-4058-8C02-95C70EB6CF3F}"/>
                </a:ext>
              </a:extLst>
            </p:cNvPr>
            <p:cNvSpPr/>
            <p:nvPr/>
          </p:nvSpPr>
          <p:spPr>
            <a:xfrm>
              <a:off x="4442279" y="1400628"/>
              <a:ext cx="599622" cy="599622"/>
            </a:xfrm>
            <a:prstGeom prst="rect">
              <a:avLst/>
            </a:prstGeom>
            <a:solidFill>
              <a:srgbClr val="1027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5483D50-697B-4056-BE7F-926F2A41132D}"/>
                </a:ext>
              </a:extLst>
            </p:cNvPr>
            <p:cNvSpPr/>
            <p:nvPr/>
          </p:nvSpPr>
          <p:spPr>
            <a:xfrm>
              <a:off x="4645910" y="1462183"/>
              <a:ext cx="192360" cy="492443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en-US" sz="320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1F91533-8E2F-4704-BFE8-95DE01298362}"/>
              </a:ext>
            </a:extLst>
          </p:cNvPr>
          <p:cNvGrpSpPr/>
          <p:nvPr/>
        </p:nvGrpSpPr>
        <p:grpSpPr>
          <a:xfrm>
            <a:off x="8408307" y="1400628"/>
            <a:ext cx="520890" cy="520890"/>
            <a:chOff x="8408307" y="1400628"/>
            <a:chExt cx="599622" cy="599622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C826715-6E88-4BD1-8915-77ED19275A15}"/>
                </a:ext>
              </a:extLst>
            </p:cNvPr>
            <p:cNvSpPr/>
            <p:nvPr/>
          </p:nvSpPr>
          <p:spPr>
            <a:xfrm>
              <a:off x="8408307" y="1400628"/>
              <a:ext cx="599622" cy="599622"/>
            </a:xfrm>
            <a:prstGeom prst="rect">
              <a:avLst/>
            </a:prstGeom>
            <a:solidFill>
              <a:srgbClr val="1027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78A2A81-9FDA-46E1-8F57-E48E90DF0CB9}"/>
                </a:ext>
              </a:extLst>
            </p:cNvPr>
            <p:cNvSpPr/>
            <p:nvPr/>
          </p:nvSpPr>
          <p:spPr>
            <a:xfrm>
              <a:off x="8611938" y="1462183"/>
              <a:ext cx="192360" cy="492443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en-US" sz="320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961A81D-25DE-4266-8B13-5933695BFB00}"/>
              </a:ext>
            </a:extLst>
          </p:cNvPr>
          <p:cNvGrpSpPr/>
          <p:nvPr/>
        </p:nvGrpSpPr>
        <p:grpSpPr>
          <a:xfrm>
            <a:off x="476251" y="3519868"/>
            <a:ext cx="520890" cy="520890"/>
            <a:chOff x="476251" y="3659224"/>
            <a:chExt cx="599622" cy="599622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ED642D3-CF14-432D-B81F-F57D95C032A2}"/>
                </a:ext>
              </a:extLst>
            </p:cNvPr>
            <p:cNvSpPr/>
            <p:nvPr/>
          </p:nvSpPr>
          <p:spPr>
            <a:xfrm>
              <a:off x="476251" y="3659224"/>
              <a:ext cx="599622" cy="599622"/>
            </a:xfrm>
            <a:prstGeom prst="rect">
              <a:avLst/>
            </a:prstGeom>
            <a:solidFill>
              <a:srgbClr val="1027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61F370E-5475-4473-9AA2-2C9A6AC72465}"/>
                </a:ext>
              </a:extLst>
            </p:cNvPr>
            <p:cNvSpPr/>
            <p:nvPr/>
          </p:nvSpPr>
          <p:spPr>
            <a:xfrm>
              <a:off x="679882" y="3720779"/>
              <a:ext cx="192360" cy="492443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en-US" sz="320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606E16A-00CE-419B-B402-3F454B35918A}"/>
              </a:ext>
            </a:extLst>
          </p:cNvPr>
          <p:cNvGrpSpPr/>
          <p:nvPr/>
        </p:nvGrpSpPr>
        <p:grpSpPr>
          <a:xfrm>
            <a:off x="4398410" y="3517370"/>
            <a:ext cx="520890" cy="520890"/>
            <a:chOff x="4442279" y="3659224"/>
            <a:chExt cx="599622" cy="599622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29AD5BEA-0694-4436-A92B-46C124B744BF}"/>
                </a:ext>
              </a:extLst>
            </p:cNvPr>
            <p:cNvSpPr/>
            <p:nvPr/>
          </p:nvSpPr>
          <p:spPr>
            <a:xfrm>
              <a:off x="4442279" y="3659224"/>
              <a:ext cx="599622" cy="599622"/>
            </a:xfrm>
            <a:prstGeom prst="rect">
              <a:avLst/>
            </a:prstGeom>
            <a:solidFill>
              <a:srgbClr val="1027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AE5434E-F86E-48FE-8A64-F83B15559485}"/>
                </a:ext>
              </a:extLst>
            </p:cNvPr>
            <p:cNvSpPr/>
            <p:nvPr/>
          </p:nvSpPr>
          <p:spPr>
            <a:xfrm>
              <a:off x="4645910" y="3720779"/>
              <a:ext cx="192360" cy="492443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en-US" sz="3200">
                  <a:solidFill>
                    <a:schemeClr val="bg1"/>
                  </a:solidFill>
                </a:rPr>
                <a:t>5</a:t>
              </a:r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3DFA44E3-0E43-41A3-B575-0501161854C5}"/>
              </a:ext>
            </a:extLst>
          </p:cNvPr>
          <p:cNvSpPr/>
          <p:nvPr/>
        </p:nvSpPr>
        <p:spPr>
          <a:xfrm>
            <a:off x="8541332" y="3570843"/>
            <a:ext cx="167103" cy="427784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E9FCC97B-1B56-BC41-B57F-D622D9D3D465}"/>
              </a:ext>
            </a:extLst>
          </p:cNvPr>
          <p:cNvSpPr txBox="1">
            <a:spLocks/>
          </p:cNvSpPr>
          <p:nvPr/>
        </p:nvSpPr>
        <p:spPr>
          <a:xfrm>
            <a:off x="1029887" y="1481902"/>
            <a:ext cx="1627643" cy="3077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aramond" panose="02020404030301010803" pitchFamily="18" charset="0"/>
              <a:buNone/>
              <a:defRPr sz="2000" b="0" i="0" u="none" strike="noStrike" kern="1200" spc="0" baseline="0">
                <a:solidFill>
                  <a:srgbClr val="102747"/>
                </a:solidFill>
                <a:latin typeface="+mn-lt"/>
                <a:ea typeface="+mn-ea"/>
                <a:cs typeface="+mn-cs"/>
              </a:defRPr>
            </a:pPr>
            <a:r>
              <a:rPr lang="en-US" sz="2000">
                <a:solidFill>
                  <a:srgbClr val="102747"/>
                </a:solidFill>
              </a:rPr>
              <a:t>Completeness 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4BE75D41-F4DE-A248-9AE1-960AB999AC24}"/>
              </a:ext>
            </a:extLst>
          </p:cNvPr>
          <p:cNvSpPr txBox="1">
            <a:spLocks/>
          </p:cNvSpPr>
          <p:nvPr/>
        </p:nvSpPr>
        <p:spPr>
          <a:xfrm>
            <a:off x="5127926" y="3685710"/>
            <a:ext cx="2102421" cy="3077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aramond" panose="02020404030301010803" pitchFamily="18" charset="0"/>
              <a:buNone/>
              <a:defRPr sz="2000" b="0" i="0" u="none" strike="noStrike" kern="1200" spc="0" baseline="0">
                <a:solidFill>
                  <a:srgbClr val="102747"/>
                </a:solidFill>
                <a:latin typeface="+mn-lt"/>
                <a:ea typeface="+mn-ea"/>
                <a:cs typeface="+mn-cs"/>
              </a:defRPr>
            </a:pPr>
            <a:r>
              <a:rPr lang="en-US" sz="2000">
                <a:solidFill>
                  <a:srgbClr val="102747"/>
                </a:solidFill>
              </a:rPr>
              <a:t>Timeliness </a:t>
            </a:r>
          </a:p>
        </p:txBody>
      </p: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8E9B1B54-283B-D741-A055-2D2DE9DF06C2}"/>
              </a:ext>
            </a:extLst>
          </p:cNvPr>
          <p:cNvSpPr txBox="1">
            <a:spLocks/>
          </p:cNvSpPr>
          <p:nvPr/>
        </p:nvSpPr>
        <p:spPr>
          <a:xfrm>
            <a:off x="9106091" y="1454101"/>
            <a:ext cx="968138" cy="3077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aramond" panose="02020404030301010803" pitchFamily="18" charset="0"/>
              <a:buNone/>
              <a:defRPr sz="2000" b="0" i="0" u="none" strike="noStrike" kern="1200" spc="0" baseline="0">
                <a:solidFill>
                  <a:srgbClr val="102747"/>
                </a:solidFill>
                <a:latin typeface="+mn-lt"/>
                <a:ea typeface="+mn-ea"/>
                <a:cs typeface="+mn-cs"/>
              </a:defRPr>
            </a:pPr>
            <a:r>
              <a:rPr lang="en-US" sz="2000">
                <a:solidFill>
                  <a:srgbClr val="102747"/>
                </a:solidFill>
              </a:rPr>
              <a:t>Validity </a:t>
            </a:r>
          </a:p>
        </p:txBody>
      </p: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341AD11A-3A02-7440-A1CB-0BC2B87E236F}"/>
              </a:ext>
            </a:extLst>
          </p:cNvPr>
          <p:cNvSpPr txBox="1">
            <a:spLocks/>
          </p:cNvSpPr>
          <p:nvPr/>
        </p:nvSpPr>
        <p:spPr>
          <a:xfrm>
            <a:off x="1029887" y="3626423"/>
            <a:ext cx="2360511" cy="3077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aramond" panose="02020404030301010803" pitchFamily="18" charset="0"/>
              <a:buNone/>
              <a:defRPr sz="2000" b="0" i="0" u="none" strike="noStrike" kern="1200" spc="0" baseline="0">
                <a:solidFill>
                  <a:srgbClr val="102747"/>
                </a:solidFill>
                <a:latin typeface="+mn-lt"/>
                <a:ea typeface="+mn-ea"/>
                <a:cs typeface="+mn-cs"/>
              </a:defRPr>
            </a:pPr>
            <a:r>
              <a:rPr lang="en-US" sz="2000">
                <a:solidFill>
                  <a:srgbClr val="102747"/>
                </a:solidFill>
              </a:rPr>
              <a:t>Uniqueness </a:t>
            </a:r>
          </a:p>
        </p:txBody>
      </p:sp>
      <p:sp>
        <p:nvSpPr>
          <p:cNvPr id="46" name="Content Placeholder 2">
            <a:extLst>
              <a:ext uri="{FF2B5EF4-FFF2-40B4-BE49-F238E27FC236}">
                <a16:creationId xmlns:a16="http://schemas.microsoft.com/office/drawing/2014/main" id="{68E61401-FD47-B542-9EF6-62B35B3AFA19}"/>
              </a:ext>
            </a:extLst>
          </p:cNvPr>
          <p:cNvSpPr txBox="1">
            <a:spLocks/>
          </p:cNvSpPr>
          <p:nvPr/>
        </p:nvSpPr>
        <p:spPr>
          <a:xfrm>
            <a:off x="5007039" y="1481903"/>
            <a:ext cx="2221794" cy="3077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aramond" panose="02020404030301010803" pitchFamily="18" charset="0"/>
              <a:buNone/>
              <a:defRPr sz="2000" b="0" i="0" u="none" strike="noStrike" kern="1200" spc="0" baseline="0">
                <a:solidFill>
                  <a:srgbClr val="102747"/>
                </a:solidFill>
                <a:latin typeface="+mn-lt"/>
                <a:ea typeface="+mn-ea"/>
                <a:cs typeface="+mn-cs"/>
              </a:defRPr>
            </a:pPr>
            <a:r>
              <a:rPr lang="en-US" sz="2000">
                <a:solidFill>
                  <a:srgbClr val="102747"/>
                </a:solidFill>
              </a:rPr>
              <a:t>Consistency </a:t>
            </a:r>
          </a:p>
        </p:txBody>
      </p: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73A6258D-4B99-644F-9C4E-6FC6FE9A2D56}"/>
              </a:ext>
            </a:extLst>
          </p:cNvPr>
          <p:cNvSpPr txBox="1">
            <a:spLocks/>
          </p:cNvSpPr>
          <p:nvPr/>
        </p:nvSpPr>
        <p:spPr>
          <a:xfrm>
            <a:off x="8111780" y="3518295"/>
            <a:ext cx="1630086" cy="8309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aramond" panose="02020404030301010803" pitchFamily="18" charset="0"/>
              <a:buNone/>
            </a:pPr>
            <a:r>
              <a:rPr lang="en-US" sz="5400" b="1">
                <a:solidFill>
                  <a:srgbClr val="102747"/>
                </a:solidFill>
              </a:rPr>
              <a:t>34%</a:t>
            </a:r>
          </a:p>
        </p:txBody>
      </p:sp>
      <p:sp>
        <p:nvSpPr>
          <p:cNvPr id="54" name="Content Placeholder 2">
            <a:extLst>
              <a:ext uri="{FF2B5EF4-FFF2-40B4-BE49-F238E27FC236}">
                <a16:creationId xmlns:a16="http://schemas.microsoft.com/office/drawing/2014/main" id="{4A6CA28C-FC74-DA42-B7E8-E393E8EC9C1B}"/>
              </a:ext>
            </a:extLst>
          </p:cNvPr>
          <p:cNvSpPr txBox="1">
            <a:spLocks/>
          </p:cNvSpPr>
          <p:nvPr/>
        </p:nvSpPr>
        <p:spPr>
          <a:xfrm>
            <a:off x="9401785" y="3864571"/>
            <a:ext cx="2636574" cy="24622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600"/>
              <a:t>Records with quality flags</a:t>
            </a:r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9A1B8D95-0D30-6B48-9E4E-CF9EA21697A4}"/>
              </a:ext>
            </a:extLst>
          </p:cNvPr>
          <p:cNvSpPr txBox="1">
            <a:spLocks/>
          </p:cNvSpPr>
          <p:nvPr/>
        </p:nvSpPr>
        <p:spPr>
          <a:xfrm>
            <a:off x="8255941" y="2034597"/>
            <a:ext cx="3326493" cy="1292662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/>
              <a:t>Invalid email format – 4 records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/>
              <a:t>Negative credit history months - 2 records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aramond" panose="02020404030301010803" pitchFamily="18" charset="0"/>
              <a:buNone/>
            </a:pPr>
            <a:r>
              <a:rPr lang="en-US" sz="160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7650B-FD81-1ABF-E113-809E252FFCA0}"/>
              </a:ext>
            </a:extLst>
          </p:cNvPr>
          <p:cNvSpPr txBox="1">
            <a:spLocks/>
          </p:cNvSpPr>
          <p:nvPr/>
        </p:nvSpPr>
        <p:spPr>
          <a:xfrm>
            <a:off x="8111780" y="4455350"/>
            <a:ext cx="1630086" cy="8309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aramond" panose="02020404030301010803" pitchFamily="18" charset="0"/>
              <a:buNone/>
            </a:pPr>
            <a:r>
              <a:rPr lang="en-US" sz="5400" b="1">
                <a:solidFill>
                  <a:srgbClr val="102747"/>
                </a:solidFill>
              </a:rPr>
              <a:t>500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270C80F-3A20-5E93-95F5-018B445ECB20}"/>
              </a:ext>
            </a:extLst>
          </p:cNvPr>
          <p:cNvSpPr txBox="1">
            <a:spLocks/>
          </p:cNvSpPr>
          <p:nvPr/>
        </p:nvSpPr>
        <p:spPr>
          <a:xfrm>
            <a:off x="9401784" y="4781030"/>
            <a:ext cx="2636574" cy="24622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600"/>
              <a:t>Unique records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021BAF6-8A85-8A37-A895-86666CBA267E}"/>
              </a:ext>
            </a:extLst>
          </p:cNvPr>
          <p:cNvSpPr/>
          <p:nvPr/>
        </p:nvSpPr>
        <p:spPr>
          <a:xfrm>
            <a:off x="7915308" y="3432679"/>
            <a:ext cx="3937456" cy="197616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D715EB3-38F2-3AE0-AFC3-E1B27605F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38963"/>
            <a:ext cx="11258550" cy="701675"/>
          </a:xfrm>
        </p:spPr>
        <p:txBody>
          <a:bodyPr lIns="0" tIns="0" rIns="0" bIns="0" anchor="ctr">
            <a:normAutofit/>
          </a:bodyPr>
          <a:lstStyle/>
          <a:p>
            <a:r>
              <a:rPr lang="en-US" sz="2800"/>
              <a:t>Data Quality Issues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54D8AF-0BCF-2D5A-551D-5A694E40ECC4}"/>
              </a:ext>
            </a:extLst>
          </p:cNvPr>
          <p:cNvSpPr/>
          <p:nvPr/>
        </p:nvSpPr>
        <p:spPr>
          <a:xfrm>
            <a:off x="1" y="226626"/>
            <a:ext cx="221672" cy="840174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66F90C-D46A-8C93-3FD5-6F72569E742C}"/>
              </a:ext>
            </a:extLst>
          </p:cNvPr>
          <p:cNvSpPr txBox="1"/>
          <p:nvPr/>
        </p:nvSpPr>
        <p:spPr>
          <a:xfrm>
            <a:off x="457200" y="239295"/>
            <a:ext cx="6096000" cy="276999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01 | Data Quality Findings</a:t>
            </a:r>
          </a:p>
        </p:txBody>
      </p:sp>
    </p:spTree>
    <p:extLst>
      <p:ext uri="{BB962C8B-B14F-4D97-AF65-F5344CB8AC3E}">
        <p14:creationId xmlns:p14="http://schemas.microsoft.com/office/powerpoint/2010/main" val="2142982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9ADDA-F337-4788-86F1-266D5676F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7148"/>
            <a:ext cx="11258550" cy="701675"/>
          </a:xfrm>
        </p:spPr>
        <p:txBody>
          <a:bodyPr lIns="0" tIns="0" rIns="0" bIns="0" anchor="ctr">
            <a:normAutofit/>
          </a:bodyPr>
          <a:lstStyle/>
          <a:p>
            <a:r>
              <a:rPr lang="en-US" sz="2800"/>
              <a:t>Cleaning &amp; Flagging Pipeline 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19D98-9AE7-44E7-8F60-792F270F2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6287" y="6275388"/>
            <a:ext cx="388513" cy="365125"/>
          </a:xfrm>
          <a:solidFill>
            <a:srgbClr val="102747"/>
          </a:solidFill>
        </p:spPr>
        <p:txBody>
          <a:bodyPr/>
          <a:lstStyle/>
          <a:p>
            <a:pPr algn="ctr"/>
            <a:fld id="{20ACEE5B-6B89-47D3-A969-11CC9D54FA43}" type="slidenum">
              <a:rPr lang="en-US" smtClean="0">
                <a:solidFill>
                  <a:schemeClr val="bg1"/>
                </a:solidFill>
              </a:rPr>
              <a:pPr algn="ctr"/>
              <a:t>6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B6EFDB5-FC2B-49AA-A879-65DB711D8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6250" y="6275388"/>
            <a:ext cx="4114800" cy="365125"/>
          </a:xfrm>
        </p:spPr>
        <p:txBody>
          <a:bodyPr lIns="0"/>
          <a:lstStyle/>
          <a:p>
            <a:pPr algn="l"/>
            <a:r>
              <a:rPr lang="en-US" err="1"/>
              <a:t>Dego</a:t>
            </a:r>
            <a:r>
              <a:rPr lang="en-US"/>
              <a:t> 2606|Msc Business </a:t>
            </a:r>
            <a:r>
              <a:rPr lang="en-US" err="1"/>
              <a:t>Analytics|Team</a:t>
            </a:r>
            <a:r>
              <a:rPr lang="en-US"/>
              <a:t> 9|Txa</a:t>
            </a:r>
          </a:p>
          <a:p>
            <a:pPr algn="l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B636B81-E366-40A1-A22C-E23DE020F5B1}"/>
              </a:ext>
            </a:extLst>
          </p:cNvPr>
          <p:cNvCxnSpPr/>
          <p:nvPr/>
        </p:nvCxnSpPr>
        <p:spPr>
          <a:xfrm>
            <a:off x="4723238" y="6457950"/>
            <a:ext cx="649086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567664BF-9038-F363-D66B-11881C0AAB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9771133"/>
              </p:ext>
            </p:extLst>
          </p:nvPr>
        </p:nvGraphicFramePr>
        <p:xfrm>
          <a:off x="535459" y="1400432"/>
          <a:ext cx="11135559" cy="384542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711853">
                  <a:extLst>
                    <a:ext uri="{9D8B030D-6E8A-4147-A177-3AD203B41FA5}">
                      <a16:colId xmlns:a16="http://schemas.microsoft.com/office/drawing/2014/main" val="4049031147"/>
                    </a:ext>
                  </a:extLst>
                </a:gridCol>
                <a:gridCol w="3711853">
                  <a:extLst>
                    <a:ext uri="{9D8B030D-6E8A-4147-A177-3AD203B41FA5}">
                      <a16:colId xmlns:a16="http://schemas.microsoft.com/office/drawing/2014/main" val="3531916878"/>
                    </a:ext>
                  </a:extLst>
                </a:gridCol>
                <a:gridCol w="3711853">
                  <a:extLst>
                    <a:ext uri="{9D8B030D-6E8A-4147-A177-3AD203B41FA5}">
                      <a16:colId xmlns:a16="http://schemas.microsoft.com/office/drawing/2014/main" val="841919544"/>
                    </a:ext>
                  </a:extLst>
                </a:gridCol>
              </a:tblGrid>
              <a:tr h="370702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Handling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533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noProof="0">
                          <a:solidFill>
                            <a:srgbClr val="000000"/>
                          </a:solidFill>
                        </a:rPr>
                        <a:t>gender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noProof="0">
                          <a:solidFill>
                            <a:srgbClr val="000000"/>
                          </a:solidFill>
                        </a:rPr>
                        <a:t>Normalize M/F → Male/Female; else Unknown</a:t>
                      </a:r>
                      <a:endParaRPr lang="en-US"/>
                    </a:p>
                    <a:p>
                      <a:pPr lvl="0" algn="ctr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noProof="0">
                          <a:solidFill>
                            <a:srgbClr val="000000"/>
                          </a:solidFill>
                        </a:rPr>
                        <a:t>New gender_clean column</a:t>
                      </a:r>
                      <a:endParaRPr lang="en-US"/>
                    </a:p>
                    <a:p>
                      <a:pPr lvl="0" algn="ctr">
                        <a:buNone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1672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noProof="0">
                          <a:solidFill>
                            <a:srgbClr val="000000"/>
                          </a:solidFill>
                        </a:rPr>
                        <a:t>date_o,f_birth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noProof="0">
                          <a:solidFill>
                            <a:srgbClr val="000000"/>
                          </a:solidFill>
                        </a:rPr>
                        <a:t>Parse all formats → YYYY-MM-DD</a:t>
                      </a:r>
                      <a:endParaRPr lang="en-US"/>
                    </a:p>
                    <a:p>
                      <a:pPr lvl="0" algn="ctr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noProof="0">
                          <a:solidFill>
                            <a:srgbClr val="000000"/>
                          </a:solidFill>
                        </a:rPr>
                        <a:t>New date_of_birth_clean column</a:t>
                      </a:r>
                      <a:endParaRPr lang="en-US"/>
                    </a:p>
                    <a:p>
                      <a:pPr lvl="0" algn="ctr">
                        <a:buNone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7426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noProof="0">
                          <a:solidFill>
                            <a:srgbClr val="000000"/>
                          </a:solidFill>
                        </a:rPr>
                        <a:t>annual_income</a:t>
                      </a:r>
                      <a:endParaRPr lang="en-US"/>
                    </a:p>
                    <a:p>
                      <a:pPr lvl="0" algn="ctr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noProof="0">
                          <a:solidFill>
                            <a:srgbClr val="000000"/>
                          </a:solidFill>
                        </a:rPr>
                        <a:t>Coerce string → numeric; zero → pd.NA</a:t>
                      </a:r>
                      <a:endParaRPr lang="en-US"/>
                    </a:p>
                    <a:p>
                      <a:pPr lvl="0" algn="ctr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noProof="0">
                          <a:solidFill>
                            <a:srgbClr val="000000"/>
                          </a:solidFill>
                        </a:rPr>
                        <a:t>New annual_income_clean column</a:t>
                      </a:r>
                      <a:endParaRPr lang="en-US"/>
                    </a:p>
                    <a:p>
                      <a:pPr lvl="0" algn="ctr">
                        <a:buNone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1996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noProof="0">
                          <a:solidFill>
                            <a:srgbClr val="000000"/>
                          </a:solidFill>
                        </a:rPr>
                        <a:t>credit_history_months</a:t>
                      </a:r>
                      <a:endParaRPr lang="en-US"/>
                    </a:p>
                    <a:p>
                      <a:pPr lvl="0" algn="ctr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noProof="0">
                          <a:solidFill>
                            <a:srgbClr val="000000"/>
                          </a:solidFill>
                        </a:rPr>
                        <a:t>Negative → pd.NA</a:t>
                      </a:r>
                      <a:endParaRPr lang="en-US"/>
                    </a:p>
                    <a:p>
                      <a:pPr lvl="0" algn="ctr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noProof="0">
                          <a:solidFill>
                            <a:srgbClr val="000000"/>
                          </a:solidFill>
                        </a:rPr>
                        <a:t>New credit_history_months_clean column </a:t>
                      </a:r>
                      <a:endParaRPr lang="en-US"/>
                    </a:p>
                    <a:p>
                      <a:pPr lvl="0" algn="ctr">
                        <a:buNone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0513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noProof="0">
                          <a:solidFill>
                            <a:srgbClr val="000000"/>
                          </a:solidFill>
                        </a:rPr>
                        <a:t>debt_to_income</a:t>
                      </a:r>
                      <a:endParaRPr lang="en-US"/>
                    </a:p>
                    <a:p>
                      <a:pPr lvl="0" algn="ctr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noProof="0">
                          <a:solidFill>
                            <a:srgbClr val="000000"/>
                          </a:solidFill>
                        </a:rPr>
                        <a:t>dti&gt; 1 → pd.NA</a:t>
                      </a:r>
                      <a:endParaRPr lang="en-US"/>
                    </a:p>
                    <a:p>
                      <a:pPr lvl="0" algn="ctr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noProof="0">
                          <a:solidFill>
                            <a:srgbClr val="000000"/>
                          </a:solidFill>
                        </a:rPr>
                        <a:t>New debt_to_income_clean column</a:t>
                      </a:r>
                      <a:endParaRPr lang="en-US"/>
                    </a:p>
                    <a:p>
                      <a:pPr lvl="0" algn="ctr">
                        <a:buNone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7329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noProof="0">
                          <a:solidFill>
                            <a:srgbClr val="000000"/>
                          </a:solidFill>
                        </a:rPr>
                        <a:t>savings_balance</a:t>
                      </a:r>
                      <a:endParaRPr lang="en-US"/>
                    </a:p>
                    <a:p>
                      <a:pPr lvl="0" algn="ctr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noProof="0">
                          <a:solidFill>
                            <a:srgbClr val="000000"/>
                          </a:solidFill>
                        </a:rPr>
                        <a:t>Negative → pd.NA</a:t>
                      </a:r>
                      <a:endParaRPr lang="en-US"/>
                    </a:p>
                    <a:p>
                      <a:pPr lvl="0" algn="ctr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noProof="0">
                          <a:solidFill>
                            <a:srgbClr val="000000"/>
                          </a:solidFill>
                        </a:rPr>
                        <a:t>New savings_balance_clean column</a:t>
                      </a:r>
                      <a:endParaRPr lang="en-US"/>
                    </a:p>
                    <a:p>
                      <a:pPr lvl="0" algn="ctr">
                        <a:buNone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135292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CC27E64E-61DC-2CF4-FA88-3D94E132684F}"/>
              </a:ext>
            </a:extLst>
          </p:cNvPr>
          <p:cNvSpPr txBox="1"/>
          <p:nvPr/>
        </p:nvSpPr>
        <p:spPr>
          <a:xfrm>
            <a:off x="540040" y="5284305"/>
            <a:ext cx="857376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latin typeface="+mj-lt"/>
                <a:ea typeface="+mj-ea"/>
                <a:cs typeface="+mj-cs"/>
              </a:rPr>
              <a:t>Non-destructive pipeline - raw fields preserved alongside cleaned values &amp; audit flags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CE35F1-926B-8FB1-2799-9D975074E22E}"/>
              </a:ext>
            </a:extLst>
          </p:cNvPr>
          <p:cNvSpPr txBox="1"/>
          <p:nvPr/>
        </p:nvSpPr>
        <p:spPr>
          <a:xfrm>
            <a:off x="538915" y="5628600"/>
            <a:ext cx="7859092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latin typeface="+mj-lt"/>
                <a:ea typeface="+mj-ea"/>
                <a:cs typeface="+mj-cs"/>
              </a:rPr>
              <a:t>Outputs: applications_clean.csv, spending_clean.csv,  data_quality_report.csv,  cleaning_log.csv</a:t>
            </a:r>
            <a:endParaRPr lang="en-US"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891A0F-3DA5-B843-D807-070B39E93898}"/>
              </a:ext>
            </a:extLst>
          </p:cNvPr>
          <p:cNvSpPr/>
          <p:nvPr/>
        </p:nvSpPr>
        <p:spPr>
          <a:xfrm>
            <a:off x="1" y="226626"/>
            <a:ext cx="221672" cy="840174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3B9F30-1239-9B57-3EE5-962CE1303056}"/>
              </a:ext>
            </a:extLst>
          </p:cNvPr>
          <p:cNvSpPr txBox="1"/>
          <p:nvPr/>
        </p:nvSpPr>
        <p:spPr>
          <a:xfrm>
            <a:off x="457200" y="239295"/>
            <a:ext cx="6096000" cy="276999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01 | Data Quality Findings</a:t>
            </a:r>
          </a:p>
        </p:txBody>
      </p:sp>
    </p:spTree>
    <p:extLst>
      <p:ext uri="{BB962C8B-B14F-4D97-AF65-F5344CB8AC3E}">
        <p14:creationId xmlns:p14="http://schemas.microsoft.com/office/powerpoint/2010/main" val="625067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D23D1C1-BC0E-4C47-992B-9FA9BDE3C491}"/>
              </a:ext>
            </a:extLst>
          </p:cNvPr>
          <p:cNvSpPr/>
          <p:nvPr/>
        </p:nvSpPr>
        <p:spPr>
          <a:xfrm>
            <a:off x="0" y="4038601"/>
            <a:ext cx="855406" cy="2095496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7D462C8-611D-44B3-AE8B-598171DECC85}"/>
              </a:ext>
            </a:extLst>
          </p:cNvPr>
          <p:cNvGrpSpPr/>
          <p:nvPr/>
        </p:nvGrpSpPr>
        <p:grpSpPr>
          <a:xfrm>
            <a:off x="1297542" y="4266919"/>
            <a:ext cx="8063425" cy="1515753"/>
            <a:chOff x="810520" y="2509978"/>
            <a:chExt cx="8063425" cy="151575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51652B6-64CF-458A-8270-964052D22D1A}"/>
                </a:ext>
              </a:extLst>
            </p:cNvPr>
            <p:cNvSpPr txBox="1"/>
            <p:nvPr/>
          </p:nvSpPr>
          <p:spPr>
            <a:xfrm>
              <a:off x="810520" y="2509978"/>
              <a:ext cx="8063425" cy="923330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r>
                <a:rPr lang="en-US" sz="6000">
                  <a:solidFill>
                    <a:srgbClr val="102747"/>
                  </a:solidFill>
                  <a:latin typeface="Garamond" panose="02020404030301010803" pitchFamily="18" charset="0"/>
                </a:rPr>
                <a:t>Bias &amp; Fairness Analysis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443BBBF-3E97-4402-B3CD-F2FB8322F17B}"/>
                </a:ext>
              </a:extLst>
            </p:cNvPr>
            <p:cNvSpPr txBox="1"/>
            <p:nvPr/>
          </p:nvSpPr>
          <p:spPr>
            <a:xfrm>
              <a:off x="810520" y="3717954"/>
              <a:ext cx="8063425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2000">
                  <a:solidFill>
                    <a:srgbClr val="102747"/>
                  </a:solidFill>
                </a:rPr>
                <a:t>Gender DI ·  Age patterns  ·  Proxy variables  ·  Interaction effects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151CEB8-FF46-49C5-A055-B63F891BB0BC}"/>
                </a:ext>
              </a:extLst>
            </p:cNvPr>
            <p:cNvCxnSpPr>
              <a:cxnSpLocks/>
            </p:cNvCxnSpPr>
            <p:nvPr/>
          </p:nvCxnSpPr>
          <p:spPr>
            <a:xfrm>
              <a:off x="810520" y="3575631"/>
              <a:ext cx="8063425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691BF65B-946B-4165-A78D-059FD267016F}"/>
              </a:ext>
            </a:extLst>
          </p:cNvPr>
          <p:cNvSpPr/>
          <p:nvPr/>
        </p:nvSpPr>
        <p:spPr>
          <a:xfrm>
            <a:off x="9803102" y="4038601"/>
            <a:ext cx="2388897" cy="2095496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446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9ADDA-F337-4788-86F1-266D5676F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38963"/>
            <a:ext cx="11258550" cy="701675"/>
          </a:xfrm>
        </p:spPr>
        <p:txBody>
          <a:bodyPr lIns="0" tIns="0" rIns="0" bIns="0" anchor="ctr">
            <a:normAutofit/>
          </a:bodyPr>
          <a:lstStyle/>
          <a:p>
            <a:r>
              <a:rPr lang="en-US" sz="2800"/>
              <a:t>Gender Disparate Impact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DF7546-5B53-457F-BF1F-872AA9DC4568}"/>
              </a:ext>
            </a:extLst>
          </p:cNvPr>
          <p:cNvSpPr/>
          <p:nvPr/>
        </p:nvSpPr>
        <p:spPr>
          <a:xfrm>
            <a:off x="1" y="226626"/>
            <a:ext cx="221672" cy="840174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19D98-9AE7-44E7-8F60-792F270F2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6287" y="6275388"/>
            <a:ext cx="388513" cy="365125"/>
          </a:xfrm>
          <a:solidFill>
            <a:srgbClr val="102747"/>
          </a:solidFill>
        </p:spPr>
        <p:txBody>
          <a:bodyPr/>
          <a:lstStyle/>
          <a:p>
            <a:pPr algn="ctr"/>
            <a:fld id="{20ACEE5B-6B89-47D3-A969-11CC9D54FA43}" type="slidenum">
              <a:rPr lang="en-US" smtClean="0">
                <a:solidFill>
                  <a:schemeClr val="bg1"/>
                </a:solidFill>
              </a:rPr>
              <a:pPr algn="ctr"/>
              <a:t>8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B6EFDB5-FC2B-49AA-A879-65DB711D8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6250" y="6275388"/>
            <a:ext cx="4114800" cy="365125"/>
          </a:xfrm>
        </p:spPr>
        <p:txBody>
          <a:bodyPr lIns="0"/>
          <a:lstStyle/>
          <a:p>
            <a:pPr algn="l"/>
            <a:r>
              <a:rPr lang="en-US" err="1"/>
              <a:t>Dego</a:t>
            </a:r>
            <a:r>
              <a:rPr lang="en-US"/>
              <a:t> 2606|Msc Business </a:t>
            </a:r>
            <a:r>
              <a:rPr lang="en-US" err="1"/>
              <a:t>Analytics|Team</a:t>
            </a:r>
            <a:r>
              <a:rPr lang="en-US"/>
              <a:t> 9|Txa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B636B81-E366-40A1-A22C-E23DE020F5B1}"/>
              </a:ext>
            </a:extLst>
          </p:cNvPr>
          <p:cNvCxnSpPr/>
          <p:nvPr/>
        </p:nvCxnSpPr>
        <p:spPr>
          <a:xfrm>
            <a:off x="4723238" y="6457950"/>
            <a:ext cx="649086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ECE1751-06CC-CF40-586B-E575400189C3}"/>
              </a:ext>
            </a:extLst>
          </p:cNvPr>
          <p:cNvSpPr txBox="1"/>
          <p:nvPr/>
        </p:nvSpPr>
        <p:spPr>
          <a:xfrm>
            <a:off x="457200" y="239295"/>
            <a:ext cx="6096000" cy="276999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02 | Bias &amp; Fairness Analysis</a:t>
            </a:r>
          </a:p>
        </p:txBody>
      </p:sp>
      <p:pic>
        <p:nvPicPr>
          <p:cNvPr id="19" name="Picture 18" descr="A screenshot of a graph&#10;&#10;AI-generated content may be incorrect.">
            <a:extLst>
              <a:ext uri="{FF2B5EF4-FFF2-40B4-BE49-F238E27FC236}">
                <a16:creationId xmlns:a16="http://schemas.microsoft.com/office/drawing/2014/main" id="{243530F2-F770-576A-D98C-A977AB773C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27" r="51389"/>
          <a:stretch>
            <a:fillRect/>
          </a:stretch>
        </p:blipFill>
        <p:spPr>
          <a:xfrm>
            <a:off x="221673" y="1044128"/>
            <a:ext cx="3396525" cy="2678228"/>
          </a:xfrm>
          <a:prstGeom prst="rect">
            <a:avLst/>
          </a:prstGeom>
        </p:spPr>
      </p:pic>
      <p:pic>
        <p:nvPicPr>
          <p:cNvPr id="25" name="Picture 24" descr="A screenshot of a graph&#10;&#10;AI-generated content may be incorrect.">
            <a:extLst>
              <a:ext uri="{FF2B5EF4-FFF2-40B4-BE49-F238E27FC236}">
                <a16:creationId xmlns:a16="http://schemas.microsoft.com/office/drawing/2014/main" id="{19204935-E156-A1AB-74DF-E341F7F8E9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830" t="14685" r="1354"/>
          <a:stretch>
            <a:fillRect/>
          </a:stretch>
        </p:blipFill>
        <p:spPr>
          <a:xfrm>
            <a:off x="549909" y="3611094"/>
            <a:ext cx="3068289" cy="251365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A5C36-8829-1FC7-37F7-C9DE5C83036D}"/>
              </a:ext>
            </a:extLst>
          </p:cNvPr>
          <p:cNvSpPr txBox="1">
            <a:spLocks/>
          </p:cNvSpPr>
          <p:nvPr/>
        </p:nvSpPr>
        <p:spPr>
          <a:xfrm>
            <a:off x="4874970" y="1511020"/>
            <a:ext cx="2139751" cy="53860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aramond" panose="02020404030301010803" pitchFamily="18" charset="0"/>
              <a:buNone/>
            </a:pPr>
            <a:r>
              <a:rPr lang="en-US" sz="3500" b="1">
                <a:solidFill>
                  <a:srgbClr val="102747"/>
                </a:solidFill>
              </a:rPr>
              <a:t>52.8%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70D9F4F-21B3-AC6F-3A1A-73EF9D39BC50}"/>
              </a:ext>
            </a:extLst>
          </p:cNvPr>
          <p:cNvSpPr txBox="1">
            <a:spLocks/>
          </p:cNvSpPr>
          <p:nvPr/>
        </p:nvSpPr>
        <p:spPr>
          <a:xfrm>
            <a:off x="4415408" y="2081020"/>
            <a:ext cx="3227701" cy="24622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600"/>
              <a:t>Threshold (80% of Male approval rate)</a:t>
            </a:r>
          </a:p>
        </p:txBody>
      </p:sp>
      <p:sp>
        <p:nvSpPr>
          <p:cNvPr id="12" name="Rectangle: Rounded Corners 10">
            <a:extLst>
              <a:ext uri="{FF2B5EF4-FFF2-40B4-BE49-F238E27FC236}">
                <a16:creationId xmlns:a16="http://schemas.microsoft.com/office/drawing/2014/main" id="{56FCE138-9623-8284-BBAD-06B24DA1AEB7}"/>
              </a:ext>
            </a:extLst>
          </p:cNvPr>
          <p:cNvSpPr/>
          <p:nvPr/>
        </p:nvSpPr>
        <p:spPr>
          <a:xfrm>
            <a:off x="4246584" y="1471073"/>
            <a:ext cx="3396525" cy="101882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3D5AC32-47A8-F19E-63F7-316EF348425D}"/>
              </a:ext>
            </a:extLst>
          </p:cNvPr>
          <p:cNvSpPr txBox="1">
            <a:spLocks/>
          </p:cNvSpPr>
          <p:nvPr/>
        </p:nvSpPr>
        <p:spPr>
          <a:xfrm>
            <a:off x="8899879" y="1537942"/>
            <a:ext cx="2139751" cy="53860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aramond" panose="02020404030301010803" pitchFamily="18" charset="0"/>
              <a:buNone/>
            </a:pPr>
            <a:r>
              <a:rPr lang="en-US" sz="3500" b="1">
                <a:solidFill>
                  <a:srgbClr val="102747"/>
                </a:solidFill>
              </a:rPr>
              <a:t>0.767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08E2A79-5EA3-5E5C-DC6A-5F367A5DDAFF}"/>
              </a:ext>
            </a:extLst>
          </p:cNvPr>
          <p:cNvSpPr txBox="1">
            <a:spLocks/>
          </p:cNvSpPr>
          <p:nvPr/>
        </p:nvSpPr>
        <p:spPr>
          <a:xfrm>
            <a:off x="8355903" y="2081020"/>
            <a:ext cx="3227701" cy="24622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600"/>
              <a:t>Disparate Impact Ratio</a:t>
            </a:r>
          </a:p>
        </p:txBody>
      </p:sp>
      <p:sp>
        <p:nvSpPr>
          <p:cNvPr id="15" name="Rectangle: Rounded Corners 10">
            <a:extLst>
              <a:ext uri="{FF2B5EF4-FFF2-40B4-BE49-F238E27FC236}">
                <a16:creationId xmlns:a16="http://schemas.microsoft.com/office/drawing/2014/main" id="{DDFB7594-09E4-8A17-0162-8BCBD01ABB65}"/>
              </a:ext>
            </a:extLst>
          </p:cNvPr>
          <p:cNvSpPr/>
          <p:nvPr/>
        </p:nvSpPr>
        <p:spPr>
          <a:xfrm>
            <a:off x="8271495" y="1471073"/>
            <a:ext cx="3396525" cy="10152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EF5742-1DA3-3CC4-6902-8E353D3F2817}"/>
              </a:ext>
            </a:extLst>
          </p:cNvPr>
          <p:cNvSpPr/>
          <p:nvPr/>
        </p:nvSpPr>
        <p:spPr>
          <a:xfrm>
            <a:off x="4781097" y="5524203"/>
            <a:ext cx="6565190" cy="434048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pic>
        <p:nvPicPr>
          <p:cNvPr id="20" name="Graphic 19" descr="Warning outline">
            <a:extLst>
              <a:ext uri="{FF2B5EF4-FFF2-40B4-BE49-F238E27FC236}">
                <a16:creationId xmlns:a16="http://schemas.microsoft.com/office/drawing/2014/main" id="{4ADAD59A-EC28-3252-FF07-5D39FFBF6E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32624" y="5556096"/>
            <a:ext cx="365943" cy="37284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8FC4D33-0D6A-8140-F596-8D620EF2B572}"/>
              </a:ext>
            </a:extLst>
          </p:cNvPr>
          <p:cNvSpPr txBox="1"/>
          <p:nvPr/>
        </p:nvSpPr>
        <p:spPr>
          <a:xfrm>
            <a:off x="5401882" y="5573857"/>
            <a:ext cx="53518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GB" sz="1600"/>
              <a:t>Strong evidence of </a:t>
            </a:r>
            <a:r>
              <a:rPr lang="en-GB" sz="1600" b="1"/>
              <a:t>gender bias</a:t>
            </a:r>
            <a:r>
              <a:rPr lang="en-GB" sz="1600"/>
              <a:t> in </a:t>
            </a:r>
            <a:r>
              <a:rPr lang="en-GB" sz="1600" err="1"/>
              <a:t>NovaCred's</a:t>
            </a:r>
            <a:r>
              <a:rPr lang="en-GB" sz="1600"/>
              <a:t> lending decisions.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47AA244-01BF-351C-A6B2-07D5351EE872}"/>
              </a:ext>
            </a:extLst>
          </p:cNvPr>
          <p:cNvSpPr/>
          <p:nvPr/>
        </p:nvSpPr>
        <p:spPr>
          <a:xfrm>
            <a:off x="4350596" y="3726667"/>
            <a:ext cx="97956" cy="523220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endParaRPr lang="en-US" sz="2800" b="1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FC833919-BE37-7111-4B2A-3D251C6517F8}"/>
              </a:ext>
            </a:extLst>
          </p:cNvPr>
          <p:cNvSpPr txBox="1">
            <a:spLocks/>
          </p:cNvSpPr>
          <p:nvPr/>
        </p:nvSpPr>
        <p:spPr>
          <a:xfrm>
            <a:off x="4591050" y="3718388"/>
            <a:ext cx="4620265" cy="52322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None/>
              <a:defRPr sz="2000" b="0" i="0" u="none" strike="noStrike" kern="1200" spc="0" baseline="0">
                <a:solidFill>
                  <a:srgbClr val="102747"/>
                </a:solidFill>
                <a:latin typeface="+mn-lt"/>
                <a:ea typeface="+mn-ea"/>
                <a:cs typeface="+mn-cs"/>
              </a:defRPr>
            </a:pPr>
            <a:r>
              <a:rPr lang="en-US" sz="2000"/>
              <a:t>Fourth-Fifths Rule - Fail</a:t>
            </a:r>
            <a:endParaRPr lang="en-US" sz="18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t-PT" sz="1400"/>
              <a:t>DI ratio (0.767) </a:t>
            </a:r>
            <a:r>
              <a:rPr lang="pt-PT" sz="1400" err="1"/>
              <a:t>below</a:t>
            </a:r>
            <a:r>
              <a:rPr lang="pt-PT" sz="1400"/>
              <a:t> </a:t>
            </a:r>
            <a:r>
              <a:rPr lang="pt-PT" sz="1400" err="1"/>
              <a:t>the</a:t>
            </a:r>
            <a:r>
              <a:rPr lang="pt-PT" sz="1400"/>
              <a:t> 80% </a:t>
            </a:r>
            <a:r>
              <a:rPr lang="pt-PT" sz="1400" err="1"/>
              <a:t>threshold</a:t>
            </a:r>
            <a:endParaRPr lang="en-US" sz="14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7EB72AD-4476-EAFA-DB04-294765D0A083}"/>
              </a:ext>
            </a:extLst>
          </p:cNvPr>
          <p:cNvSpPr/>
          <p:nvPr/>
        </p:nvSpPr>
        <p:spPr>
          <a:xfrm>
            <a:off x="4350596" y="2945509"/>
            <a:ext cx="97956" cy="523220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endParaRPr lang="en-US" sz="2800" b="1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F69908CF-9DDC-9534-AD94-87C05024E33F}"/>
              </a:ext>
            </a:extLst>
          </p:cNvPr>
          <p:cNvSpPr txBox="1">
            <a:spLocks/>
          </p:cNvSpPr>
          <p:nvPr/>
        </p:nvSpPr>
        <p:spPr>
          <a:xfrm>
            <a:off x="4591050" y="2937230"/>
            <a:ext cx="5995670" cy="52322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None/>
              <a:defRPr sz="2000" b="0" i="0" u="none" strike="noStrike" kern="1200" spc="0" baseline="0">
                <a:solidFill>
                  <a:srgbClr val="102747"/>
                </a:solidFill>
                <a:latin typeface="+mn-lt"/>
                <a:ea typeface="+mn-ea"/>
                <a:cs typeface="+mn-cs"/>
              </a:defRPr>
            </a:pPr>
            <a:r>
              <a:rPr lang="en-US" sz="2000"/>
              <a:t>Loan approval difference</a:t>
            </a:r>
            <a:endParaRPr lang="en-US" sz="18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t-PT" sz="1400" err="1"/>
              <a:t>Female</a:t>
            </a:r>
            <a:r>
              <a:rPr lang="pt-PT" sz="1400"/>
              <a:t> </a:t>
            </a:r>
            <a:r>
              <a:rPr lang="pt-PT" sz="1400" err="1"/>
              <a:t>approval</a:t>
            </a:r>
            <a:r>
              <a:rPr lang="pt-PT" sz="1400"/>
              <a:t> rate </a:t>
            </a:r>
            <a:r>
              <a:rPr lang="en-PT" sz="1400" b="1" dirty="0"/>
              <a:t>50.6% </a:t>
            </a:r>
            <a:r>
              <a:rPr lang="en-PT" sz="1400" dirty="0"/>
              <a:t>vs Male approval rate </a:t>
            </a:r>
            <a:r>
              <a:rPr lang="en-PT" sz="1400" b="1" dirty="0"/>
              <a:t>66%</a:t>
            </a:r>
            <a:endParaRPr lang="en-US" sz="1400" b="1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39C31BB-F617-A825-5758-BAFB33A8945A}"/>
              </a:ext>
            </a:extLst>
          </p:cNvPr>
          <p:cNvSpPr/>
          <p:nvPr/>
        </p:nvSpPr>
        <p:spPr>
          <a:xfrm>
            <a:off x="4350596" y="4509564"/>
            <a:ext cx="97956" cy="523220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endParaRPr lang="en-US" sz="2800" b="1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45B65C81-50FD-5A5E-3617-998707CAFAD7}"/>
              </a:ext>
            </a:extLst>
          </p:cNvPr>
          <p:cNvSpPr txBox="1">
            <a:spLocks/>
          </p:cNvSpPr>
          <p:nvPr/>
        </p:nvSpPr>
        <p:spPr>
          <a:xfrm>
            <a:off x="4591050" y="4501285"/>
            <a:ext cx="4620265" cy="52322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None/>
              <a:defRPr sz="2000" b="0" i="0" u="none" strike="noStrike" kern="1200" spc="0" baseline="0">
                <a:solidFill>
                  <a:srgbClr val="102747"/>
                </a:solidFill>
                <a:latin typeface="+mn-lt"/>
                <a:ea typeface="+mn-ea"/>
                <a:cs typeface="+mn-cs"/>
              </a:defRPr>
            </a:pPr>
            <a:r>
              <a:rPr lang="en-US" sz="2000"/>
              <a:t>Statistically Significant</a:t>
            </a:r>
            <a:endParaRPr lang="en-US" sz="18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t-PT" sz="1400"/>
              <a:t>Chi-</a:t>
            </a:r>
            <a:r>
              <a:rPr lang="pt-PT" sz="1400" err="1"/>
              <a:t>square</a:t>
            </a:r>
            <a:r>
              <a:rPr lang="pt-PT" sz="1400"/>
              <a:t> </a:t>
            </a:r>
            <a:r>
              <a:rPr lang="pt-PT" sz="1400" err="1"/>
              <a:t>results</a:t>
            </a:r>
            <a:r>
              <a:rPr lang="pt-PT" sz="1400"/>
              <a:t>: </a:t>
            </a:r>
            <a:r>
              <a:rPr lang="en-GB" sz="1400"/>
              <a:t>(</a:t>
            </a:r>
            <a:r>
              <a:rPr lang="el-GR" sz="1400"/>
              <a:t>χ² = 11.5053, </a:t>
            </a:r>
            <a:r>
              <a:rPr lang="en-GB" sz="1400"/>
              <a:t>p = 0.0007) 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60136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8B42A-12D3-A4A8-80F5-97D673EFE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E1FA8-F1B3-3549-7F98-5BC1CE503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38963"/>
            <a:ext cx="11258550" cy="701675"/>
          </a:xfrm>
        </p:spPr>
        <p:txBody>
          <a:bodyPr lIns="0" tIns="0" rIns="0" bIns="0" anchor="ctr">
            <a:normAutofit/>
          </a:bodyPr>
          <a:lstStyle/>
          <a:p>
            <a:r>
              <a:rPr lang="en-US" sz="2800"/>
              <a:t>Gender and Income Level Interaction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41D9F2-5CEC-0508-F2B6-7744A897AFC5}"/>
              </a:ext>
            </a:extLst>
          </p:cNvPr>
          <p:cNvSpPr/>
          <p:nvPr/>
        </p:nvSpPr>
        <p:spPr>
          <a:xfrm>
            <a:off x="1" y="226626"/>
            <a:ext cx="221672" cy="840174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7C8E9-3661-D675-DC5E-E3BCDDCCD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6287" y="6275388"/>
            <a:ext cx="388513" cy="365125"/>
          </a:xfrm>
          <a:solidFill>
            <a:srgbClr val="102747"/>
          </a:solidFill>
        </p:spPr>
        <p:txBody>
          <a:bodyPr/>
          <a:lstStyle/>
          <a:p>
            <a:pPr algn="ctr"/>
            <a:fld id="{20ACEE5B-6B89-47D3-A969-11CC9D54FA43}" type="slidenum">
              <a:rPr lang="en-US" smtClean="0">
                <a:solidFill>
                  <a:schemeClr val="bg1"/>
                </a:solidFill>
              </a:rPr>
              <a:pPr algn="ctr"/>
              <a:t>9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583186A-0EAA-80A5-4899-F9CE7FA8B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6250" y="6275388"/>
            <a:ext cx="4114800" cy="365125"/>
          </a:xfrm>
        </p:spPr>
        <p:txBody>
          <a:bodyPr lIns="0"/>
          <a:lstStyle/>
          <a:p>
            <a:pPr algn="l"/>
            <a:r>
              <a:rPr lang="en-US" err="1"/>
              <a:t>Dego</a:t>
            </a:r>
            <a:r>
              <a:rPr lang="en-US"/>
              <a:t> 2606|Msc Business </a:t>
            </a:r>
            <a:r>
              <a:rPr lang="en-US" err="1"/>
              <a:t>Analytics|Team</a:t>
            </a:r>
            <a:r>
              <a:rPr lang="en-US"/>
              <a:t> 9|Txa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6F2EA63-E4D3-611A-34A7-4ED2D18FF435}"/>
              </a:ext>
            </a:extLst>
          </p:cNvPr>
          <p:cNvCxnSpPr/>
          <p:nvPr/>
        </p:nvCxnSpPr>
        <p:spPr>
          <a:xfrm>
            <a:off x="4723238" y="6457950"/>
            <a:ext cx="649086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843E72A-A52C-D4EC-03E3-E527410E599F}"/>
              </a:ext>
            </a:extLst>
          </p:cNvPr>
          <p:cNvSpPr txBox="1"/>
          <p:nvPr/>
        </p:nvSpPr>
        <p:spPr>
          <a:xfrm>
            <a:off x="457200" y="239295"/>
            <a:ext cx="6096000" cy="276999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02 | Bias &amp; Fairness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DC9F2B-8C02-5311-49F8-FE54A9DD6E13}"/>
              </a:ext>
            </a:extLst>
          </p:cNvPr>
          <p:cNvSpPr/>
          <p:nvPr/>
        </p:nvSpPr>
        <p:spPr>
          <a:xfrm>
            <a:off x="6855031" y="2104046"/>
            <a:ext cx="97956" cy="523220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endParaRPr lang="en-US" sz="2800" b="1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53F7BC9-7CC1-3462-0388-ACA9C5E4F004}"/>
              </a:ext>
            </a:extLst>
          </p:cNvPr>
          <p:cNvSpPr txBox="1">
            <a:spLocks/>
          </p:cNvSpPr>
          <p:nvPr/>
        </p:nvSpPr>
        <p:spPr>
          <a:xfrm>
            <a:off x="7095485" y="2095767"/>
            <a:ext cx="4620265" cy="52322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None/>
              <a:defRPr sz="2000" b="0" i="0" u="none" strike="noStrike" kern="1200" spc="0" baseline="0">
                <a:solidFill>
                  <a:srgbClr val="102747"/>
                </a:solidFill>
                <a:latin typeface="+mn-lt"/>
                <a:ea typeface="+mn-ea"/>
                <a:cs typeface="+mn-cs"/>
              </a:defRPr>
            </a:pPr>
            <a:r>
              <a:rPr lang="en-US" sz="2000"/>
              <a:t>Income is not a Gender proxy</a:t>
            </a:r>
            <a:endParaRPr lang="en-US" sz="18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/>
              <a:t>No significant statistical income gap between genders - </a:t>
            </a:r>
            <a:r>
              <a:rPr lang="en-GB" sz="1400"/>
              <a:t>p = 0.264</a:t>
            </a:r>
            <a:endParaRPr lang="en-US" sz="140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547A8F1-D137-3DF7-2698-B6CCEF78E14C}"/>
              </a:ext>
            </a:extLst>
          </p:cNvPr>
          <p:cNvSpPr txBox="1">
            <a:spLocks/>
          </p:cNvSpPr>
          <p:nvPr/>
        </p:nvSpPr>
        <p:spPr>
          <a:xfrm>
            <a:off x="7095485" y="2907258"/>
            <a:ext cx="4620265" cy="52322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None/>
              <a:defRPr sz="2000" b="0" i="0" u="none" strike="noStrike" kern="1200" spc="0" baseline="0">
                <a:solidFill>
                  <a:srgbClr val="102747"/>
                </a:solidFill>
                <a:latin typeface="+mn-lt"/>
                <a:ea typeface="+mn-ea"/>
                <a:cs typeface="+mn-cs"/>
              </a:defRPr>
            </a:pPr>
            <a:r>
              <a:rPr lang="en-US" sz="2000"/>
              <a:t>Largest gap – Low Income Level</a:t>
            </a:r>
            <a:endParaRPr lang="en-US" sz="180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t-PT" sz="1400"/>
              <a:t>18.2 percentagem </a:t>
            </a:r>
            <a:r>
              <a:rPr lang="pt-PT" sz="1400" err="1"/>
              <a:t>point</a:t>
            </a:r>
            <a:r>
              <a:rPr lang="pt-PT" sz="1400"/>
              <a:t> </a:t>
            </a:r>
            <a:r>
              <a:rPr lang="pt-PT" sz="1400" err="1"/>
              <a:t>difference</a:t>
            </a:r>
            <a:endParaRPr lang="en-US" sz="140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9F6C3DB-06EE-6E7B-D8C8-3DF31C5812DB}"/>
              </a:ext>
            </a:extLst>
          </p:cNvPr>
          <p:cNvSpPr txBox="1">
            <a:spLocks/>
          </p:cNvSpPr>
          <p:nvPr/>
        </p:nvSpPr>
        <p:spPr>
          <a:xfrm>
            <a:off x="7095485" y="3750598"/>
            <a:ext cx="4620265" cy="52322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None/>
              <a:defRPr sz="2000" b="0" i="0" u="none" strike="noStrike" kern="1200" spc="0" baseline="0">
                <a:solidFill>
                  <a:srgbClr val="102747"/>
                </a:solidFill>
                <a:latin typeface="+mn-lt"/>
                <a:ea typeface="+mn-ea"/>
                <a:cs typeface="+mn-cs"/>
              </a:defRPr>
            </a:pPr>
            <a:r>
              <a:rPr lang="en-US" sz="2000"/>
              <a:t>Statistically Significant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t-PT" sz="1400"/>
              <a:t>Chi-</a:t>
            </a:r>
            <a:r>
              <a:rPr lang="pt-PT" sz="1400" err="1"/>
              <a:t>square</a:t>
            </a:r>
            <a:r>
              <a:rPr lang="pt-PT" sz="1400"/>
              <a:t> </a:t>
            </a:r>
            <a:r>
              <a:rPr lang="pt-PT" sz="1400" err="1"/>
              <a:t>test</a:t>
            </a:r>
            <a:r>
              <a:rPr lang="pt-PT" sz="1400"/>
              <a:t> </a:t>
            </a:r>
            <a:r>
              <a:rPr lang="pt-PT" sz="1400" err="1"/>
              <a:t>results</a:t>
            </a:r>
            <a:r>
              <a:rPr lang="pt-PT" sz="1400"/>
              <a:t>: </a:t>
            </a:r>
            <a:r>
              <a:rPr lang="el-GR" sz="1400" b="1"/>
              <a:t>χ² = 22.35, </a:t>
            </a:r>
            <a:r>
              <a:rPr lang="en-GB" sz="1400" b="1"/>
              <a:t>p = 0.001</a:t>
            </a:r>
          </a:p>
        </p:txBody>
      </p:sp>
      <p:pic>
        <p:nvPicPr>
          <p:cNvPr id="14" name="Picture 13" descr="A graph of a graph showing a number of people&#10;&#10;AI-generated content may be incorrect.">
            <a:extLst>
              <a:ext uri="{FF2B5EF4-FFF2-40B4-BE49-F238E27FC236}">
                <a16:creationId xmlns:a16="http://schemas.microsoft.com/office/drawing/2014/main" id="{225B51A0-E84F-A9E9-35C5-34DF74B28B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73" y="1738462"/>
            <a:ext cx="6490861" cy="317637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EB83BD0-9913-7D1E-CE1F-EB03C023D680}"/>
              </a:ext>
            </a:extLst>
          </p:cNvPr>
          <p:cNvSpPr/>
          <p:nvPr/>
        </p:nvSpPr>
        <p:spPr>
          <a:xfrm>
            <a:off x="609600" y="5153923"/>
            <a:ext cx="10797410" cy="74212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pic>
        <p:nvPicPr>
          <p:cNvPr id="19" name="Graphic 18" descr="Warning outline">
            <a:extLst>
              <a:ext uri="{FF2B5EF4-FFF2-40B4-BE49-F238E27FC236}">
                <a16:creationId xmlns:a16="http://schemas.microsoft.com/office/drawing/2014/main" id="{2083CA86-09E6-E98F-B6D2-1A53C56662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4990" y="5263981"/>
            <a:ext cx="457200" cy="4572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6450824-9A99-4ADE-393F-C23B4DABCD60}"/>
              </a:ext>
            </a:extLst>
          </p:cNvPr>
          <p:cNvSpPr txBox="1"/>
          <p:nvPr/>
        </p:nvSpPr>
        <p:spPr>
          <a:xfrm>
            <a:off x="1342580" y="5207501"/>
            <a:ext cx="9871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/>
              <a:t>The gender gap persists across all income levels, confirming that income does not explain the discrimination, pointing to direct gender bias in </a:t>
            </a:r>
            <a:r>
              <a:rPr lang="en-GB" err="1"/>
              <a:t>NovaCred's</a:t>
            </a:r>
            <a:r>
              <a:rPr lang="en-GB"/>
              <a:t> lending model.</a:t>
            </a:r>
            <a:endParaRPr lang="en-US" b="1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92C4575-B285-A9E5-4153-C2A1B946F277}"/>
              </a:ext>
            </a:extLst>
          </p:cNvPr>
          <p:cNvSpPr/>
          <p:nvPr/>
        </p:nvSpPr>
        <p:spPr>
          <a:xfrm>
            <a:off x="6855031" y="2905780"/>
            <a:ext cx="97956" cy="523220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endParaRPr lang="en-US" sz="2800" b="1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2844F7D-5975-1179-EAF4-7873013116BC}"/>
              </a:ext>
            </a:extLst>
          </p:cNvPr>
          <p:cNvSpPr/>
          <p:nvPr/>
        </p:nvSpPr>
        <p:spPr>
          <a:xfrm>
            <a:off x="6855031" y="3750598"/>
            <a:ext cx="97956" cy="523220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endParaRPr lang="en-US" sz="2800" b="1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45925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30FA8-9E1B-F508-3ECD-CA3710A98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25DAD-BA20-25A9-CAB4-C187E7D91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38963"/>
            <a:ext cx="11258550" cy="701675"/>
          </a:xfrm>
        </p:spPr>
        <p:txBody>
          <a:bodyPr lIns="0" tIns="0" rIns="0" bIns="0" anchor="ctr">
            <a:normAutofit/>
          </a:bodyPr>
          <a:lstStyle/>
          <a:p>
            <a:r>
              <a:rPr lang="en-US" sz="2800"/>
              <a:t>Age-Based Discrimination Patterns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29E396-9983-A2EA-3AA1-2147D5D50A07}"/>
              </a:ext>
            </a:extLst>
          </p:cNvPr>
          <p:cNvSpPr/>
          <p:nvPr/>
        </p:nvSpPr>
        <p:spPr>
          <a:xfrm>
            <a:off x="1" y="226626"/>
            <a:ext cx="221672" cy="840174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10207-BF3C-E4C7-C61B-DA498D42A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6287" y="6275388"/>
            <a:ext cx="388513" cy="365125"/>
          </a:xfrm>
          <a:solidFill>
            <a:srgbClr val="102747"/>
          </a:solidFill>
        </p:spPr>
        <p:txBody>
          <a:bodyPr/>
          <a:lstStyle/>
          <a:p>
            <a:pPr algn="ctr"/>
            <a:fld id="{20ACEE5B-6B89-47D3-A969-11CC9D54FA43}" type="slidenum">
              <a:rPr lang="en-US" smtClean="0">
                <a:solidFill>
                  <a:schemeClr val="bg1"/>
                </a:solidFill>
              </a:rPr>
              <a:pPr algn="ctr"/>
              <a:t>10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CF3A7EC-60A2-D7B3-2CC3-B83B3F3DF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6250" y="6275388"/>
            <a:ext cx="4114800" cy="365125"/>
          </a:xfrm>
        </p:spPr>
        <p:txBody>
          <a:bodyPr lIns="0"/>
          <a:lstStyle/>
          <a:p>
            <a:pPr algn="l"/>
            <a:r>
              <a:rPr lang="en-US" err="1"/>
              <a:t>Dego</a:t>
            </a:r>
            <a:r>
              <a:rPr lang="en-US"/>
              <a:t> 2606|Msc Business </a:t>
            </a:r>
            <a:r>
              <a:rPr lang="en-US" err="1"/>
              <a:t>Analytics|Team</a:t>
            </a:r>
            <a:r>
              <a:rPr lang="en-US"/>
              <a:t> 9|Txa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381AC5E-D743-F4A6-1313-8A5C5F06DA0B}"/>
              </a:ext>
            </a:extLst>
          </p:cNvPr>
          <p:cNvCxnSpPr/>
          <p:nvPr/>
        </p:nvCxnSpPr>
        <p:spPr>
          <a:xfrm>
            <a:off x="4723238" y="6457950"/>
            <a:ext cx="649086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4E5F86B-4A16-AE16-5566-06F74D549B58}"/>
              </a:ext>
            </a:extLst>
          </p:cNvPr>
          <p:cNvSpPr txBox="1"/>
          <p:nvPr/>
        </p:nvSpPr>
        <p:spPr>
          <a:xfrm>
            <a:off x="457200" y="239295"/>
            <a:ext cx="6096000" cy="276999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02 | Bias &amp; Fairness Analysis</a:t>
            </a:r>
          </a:p>
        </p:txBody>
      </p:sp>
      <p:pic>
        <p:nvPicPr>
          <p:cNvPr id="5" name="Picture 4" descr="A graph with green and red bars&#10;&#10;AI-generated content may be incorrect.">
            <a:extLst>
              <a:ext uri="{FF2B5EF4-FFF2-40B4-BE49-F238E27FC236}">
                <a16:creationId xmlns:a16="http://schemas.microsoft.com/office/drawing/2014/main" id="{882A2EF7-B819-7674-EF17-77B0841F8B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49"/>
          <a:stretch>
            <a:fillRect/>
          </a:stretch>
        </p:blipFill>
        <p:spPr>
          <a:xfrm>
            <a:off x="304087" y="2383761"/>
            <a:ext cx="6402225" cy="328523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B1B6D5D-58DA-91BE-D542-1A0C9D6A74E4}"/>
              </a:ext>
            </a:extLst>
          </p:cNvPr>
          <p:cNvSpPr/>
          <p:nvPr/>
        </p:nvSpPr>
        <p:spPr>
          <a:xfrm>
            <a:off x="7035652" y="2392040"/>
            <a:ext cx="97956" cy="523220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endParaRPr lang="en-US" sz="2800" b="1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03F6C4B-2F2D-F19E-8BBD-59700B681D6A}"/>
              </a:ext>
            </a:extLst>
          </p:cNvPr>
          <p:cNvSpPr txBox="1">
            <a:spLocks/>
          </p:cNvSpPr>
          <p:nvPr/>
        </p:nvSpPr>
        <p:spPr>
          <a:xfrm>
            <a:off x="7276106" y="2383761"/>
            <a:ext cx="4620265" cy="52322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None/>
              <a:defRPr sz="2000" b="0" i="0" u="none" strike="noStrike" kern="1200" spc="0" baseline="0">
                <a:solidFill>
                  <a:srgbClr val="102747"/>
                </a:solidFill>
                <a:latin typeface="+mn-lt"/>
                <a:ea typeface="+mn-ea"/>
                <a:cs typeface="+mn-cs"/>
              </a:defRPr>
            </a:pPr>
            <a:r>
              <a:rPr lang="en-US" sz="2000"/>
              <a:t>Clear Age gradient</a:t>
            </a:r>
            <a:endParaRPr lang="en-US" sz="1800"/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None/>
              <a:defRPr sz="2000" b="0" i="0" u="none" strike="noStrike" kern="1200" spc="0" baseline="0">
                <a:solidFill>
                  <a:srgbClr val="102747"/>
                </a:solidFill>
                <a:latin typeface="+mn-lt"/>
                <a:ea typeface="+mn-ea"/>
                <a:cs typeface="+mn-cs"/>
              </a:defRPr>
            </a:pPr>
            <a:r>
              <a:rPr lang="en-GB" sz="1400"/>
              <a:t>18-25 (33.3%) → 26-35 (52.8%) → 36-45 (67.9%)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3125990-C6BE-8500-37F7-8A3C6FC4A28A}"/>
              </a:ext>
            </a:extLst>
          </p:cNvPr>
          <p:cNvSpPr txBox="1">
            <a:spLocks/>
          </p:cNvSpPr>
          <p:nvPr/>
        </p:nvSpPr>
        <p:spPr>
          <a:xfrm>
            <a:off x="7276106" y="3158181"/>
            <a:ext cx="4620265" cy="52322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None/>
              <a:defRPr sz="2000" b="0" i="0" u="none" strike="noStrike" kern="1200" spc="0" baseline="0">
                <a:solidFill>
                  <a:srgbClr val="102747"/>
                </a:solidFill>
                <a:latin typeface="+mn-lt"/>
                <a:ea typeface="+mn-ea"/>
                <a:cs typeface="+mn-cs"/>
              </a:defRPr>
            </a:pPr>
            <a:r>
              <a:rPr lang="en-US" sz="2000"/>
              <a:t>Younger vs Older applicants</a:t>
            </a:r>
            <a:endParaRPr lang="en-US" sz="1800"/>
          </a:p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None/>
              <a:defRPr sz="2000" b="0" i="0" u="none" strike="noStrike" kern="1200" spc="0" baseline="0">
                <a:solidFill>
                  <a:srgbClr val="102747"/>
                </a:solidFill>
                <a:latin typeface="+mn-lt"/>
                <a:ea typeface="+mn-ea"/>
                <a:cs typeface="+mn-cs"/>
              </a:defRPr>
            </a:pPr>
            <a:r>
              <a:rPr lang="en-GB" sz="1400"/>
              <a:t>≤35: </a:t>
            </a:r>
            <a:r>
              <a:rPr lang="en-GB" sz="1400" b="1"/>
              <a:t>48.8%</a:t>
            </a:r>
            <a:r>
              <a:rPr lang="en-GB" sz="1400"/>
              <a:t> vs &gt;35: </a:t>
            </a:r>
            <a:r>
              <a:rPr lang="en-GB" sz="1400" b="1"/>
              <a:t>64.7%</a:t>
            </a:r>
            <a:r>
              <a:rPr lang="en-GB" sz="1400"/>
              <a:t> approval rate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799F33F-D54D-7029-0E34-10FF457FF35A}"/>
              </a:ext>
            </a:extLst>
          </p:cNvPr>
          <p:cNvSpPr txBox="1">
            <a:spLocks/>
          </p:cNvSpPr>
          <p:nvPr/>
        </p:nvSpPr>
        <p:spPr>
          <a:xfrm>
            <a:off x="7276106" y="3908778"/>
            <a:ext cx="4620265" cy="52322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None/>
              <a:defRPr sz="2000" b="0" i="0" u="none" strike="noStrike" kern="1200" spc="0" baseline="0">
                <a:solidFill>
                  <a:srgbClr val="102747"/>
                </a:solidFill>
                <a:latin typeface="+mn-lt"/>
                <a:ea typeface="+mn-ea"/>
                <a:cs typeface="+mn-cs"/>
              </a:defRPr>
            </a:pPr>
            <a:r>
              <a:rPr lang="en-US" sz="2000"/>
              <a:t>Fourth-Fifths Rule - Fails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t-PT" sz="1400"/>
              <a:t>DI ratio (0.753) </a:t>
            </a:r>
            <a:r>
              <a:rPr lang="pt-PT" sz="1400" err="1"/>
              <a:t>below</a:t>
            </a:r>
            <a:r>
              <a:rPr lang="pt-PT" sz="1400"/>
              <a:t> </a:t>
            </a:r>
            <a:r>
              <a:rPr lang="pt-PT" sz="1400" err="1"/>
              <a:t>the</a:t>
            </a:r>
            <a:r>
              <a:rPr lang="pt-PT" sz="1400"/>
              <a:t> 80% </a:t>
            </a:r>
            <a:r>
              <a:rPr lang="pt-PT" sz="1400" err="1"/>
              <a:t>threshold</a:t>
            </a:r>
            <a:endParaRPr lang="en-US" sz="1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9219FB-1BDB-C554-6CD6-9C6C5D916F9D}"/>
              </a:ext>
            </a:extLst>
          </p:cNvPr>
          <p:cNvSpPr/>
          <p:nvPr/>
        </p:nvSpPr>
        <p:spPr>
          <a:xfrm>
            <a:off x="7035652" y="3156703"/>
            <a:ext cx="97956" cy="523220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endParaRPr lang="en-US" sz="2800" b="1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5354B2-4F21-5E2C-73E4-B42B625A6FE5}"/>
              </a:ext>
            </a:extLst>
          </p:cNvPr>
          <p:cNvSpPr/>
          <p:nvPr/>
        </p:nvSpPr>
        <p:spPr>
          <a:xfrm>
            <a:off x="7035652" y="3908778"/>
            <a:ext cx="97956" cy="523220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endParaRPr lang="en-US" sz="2800" b="1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E2B4FB6-0F7D-527B-4DED-2797A0AB228B}"/>
              </a:ext>
            </a:extLst>
          </p:cNvPr>
          <p:cNvSpPr txBox="1">
            <a:spLocks/>
          </p:cNvSpPr>
          <p:nvPr/>
        </p:nvSpPr>
        <p:spPr>
          <a:xfrm>
            <a:off x="7276106" y="4687933"/>
            <a:ext cx="4620265" cy="52322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None/>
              <a:defRPr sz="2000" b="0" i="0" u="none" strike="noStrike" kern="1200" spc="0" baseline="0">
                <a:solidFill>
                  <a:srgbClr val="102747"/>
                </a:solidFill>
                <a:latin typeface="+mn-lt"/>
                <a:ea typeface="+mn-ea"/>
                <a:cs typeface="+mn-cs"/>
              </a:defRPr>
            </a:pPr>
            <a:r>
              <a:rPr lang="en-US" sz="2000"/>
              <a:t>Statistically Significant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pt-PT" sz="1400"/>
              <a:t>Chi-</a:t>
            </a:r>
            <a:r>
              <a:rPr lang="pt-PT" sz="1400" err="1"/>
              <a:t>square</a:t>
            </a:r>
            <a:r>
              <a:rPr lang="pt-PT" sz="1400"/>
              <a:t> </a:t>
            </a:r>
            <a:r>
              <a:rPr lang="pt-PT" sz="1400" err="1"/>
              <a:t>test</a:t>
            </a:r>
            <a:r>
              <a:rPr lang="pt-PT" sz="1400"/>
              <a:t> </a:t>
            </a:r>
            <a:r>
              <a:rPr lang="pt-PT" sz="1400" err="1"/>
              <a:t>results</a:t>
            </a:r>
            <a:r>
              <a:rPr lang="pt-PT" sz="1400"/>
              <a:t>: </a:t>
            </a:r>
            <a:r>
              <a:rPr lang="el-GR" sz="1400" b="1"/>
              <a:t>χ² = 11.92, </a:t>
            </a:r>
            <a:r>
              <a:rPr lang="en-GB" sz="1400" b="1"/>
              <a:t>p = 0.0006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31E7C9-8F55-90A1-D88B-86C9D75A6672}"/>
              </a:ext>
            </a:extLst>
          </p:cNvPr>
          <p:cNvSpPr/>
          <p:nvPr/>
        </p:nvSpPr>
        <p:spPr>
          <a:xfrm>
            <a:off x="7035652" y="4687933"/>
            <a:ext cx="97956" cy="523220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endParaRPr lang="en-US" sz="2800" b="1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D6D27E-505F-417E-0B48-C7C7CA24188D}"/>
              </a:ext>
            </a:extLst>
          </p:cNvPr>
          <p:cNvSpPr txBox="1"/>
          <p:nvPr/>
        </p:nvSpPr>
        <p:spPr>
          <a:xfrm>
            <a:off x="9853000" y="5356196"/>
            <a:ext cx="2339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b="1">
                <a:solidFill>
                  <a:schemeClr val="bg2">
                    <a:lumMod val="50000"/>
                  </a:schemeClr>
                </a:solidFill>
              </a:rPr>
              <a:t>*</a:t>
            </a:r>
            <a:r>
              <a:rPr lang="en-GB" sz="1000">
                <a:solidFill>
                  <a:schemeClr val="bg2">
                    <a:lumMod val="50000"/>
                  </a:schemeClr>
                </a:solidFill>
              </a:rPr>
              <a:t>65+ excluded from threshold calculation (only 2 applicants, not statistically reliable)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8ABE33FA-858A-EE0B-C0D8-D7581CE0D606}"/>
              </a:ext>
            </a:extLst>
          </p:cNvPr>
          <p:cNvSpPr txBox="1">
            <a:spLocks/>
          </p:cNvSpPr>
          <p:nvPr/>
        </p:nvSpPr>
        <p:spPr>
          <a:xfrm>
            <a:off x="3232650" y="1254072"/>
            <a:ext cx="2139751" cy="53860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aramond" panose="02020404030301010803" pitchFamily="18" charset="0"/>
              <a:buNone/>
            </a:pPr>
            <a:r>
              <a:rPr lang="en-US" sz="3500" b="1">
                <a:solidFill>
                  <a:srgbClr val="102747"/>
                </a:solidFill>
              </a:rPr>
              <a:t>54.3%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2E68F53-C15B-D260-95ED-F1E44E51FB62}"/>
              </a:ext>
            </a:extLst>
          </p:cNvPr>
          <p:cNvSpPr txBox="1">
            <a:spLocks/>
          </p:cNvSpPr>
          <p:nvPr/>
        </p:nvSpPr>
        <p:spPr>
          <a:xfrm>
            <a:off x="2688674" y="1824072"/>
            <a:ext cx="3312115" cy="24622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600"/>
              <a:t>Threshold (80% of 36-45 approval rate)*</a:t>
            </a:r>
          </a:p>
        </p:txBody>
      </p:sp>
      <p:sp>
        <p:nvSpPr>
          <p:cNvPr id="25" name="Rectangle: Rounded Corners 10">
            <a:extLst>
              <a:ext uri="{FF2B5EF4-FFF2-40B4-BE49-F238E27FC236}">
                <a16:creationId xmlns:a16="http://schemas.microsoft.com/office/drawing/2014/main" id="{F6722414-6E00-262D-414E-9065B6364E1F}"/>
              </a:ext>
            </a:extLst>
          </p:cNvPr>
          <p:cNvSpPr/>
          <p:nvPr/>
        </p:nvSpPr>
        <p:spPr>
          <a:xfrm>
            <a:off x="2604264" y="1214125"/>
            <a:ext cx="3396525" cy="101882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6595B896-B732-7BEE-9DDA-9A89B5ECC62B}"/>
              </a:ext>
            </a:extLst>
          </p:cNvPr>
          <p:cNvSpPr txBox="1">
            <a:spLocks/>
          </p:cNvSpPr>
          <p:nvPr/>
        </p:nvSpPr>
        <p:spPr>
          <a:xfrm>
            <a:off x="6818098" y="1291185"/>
            <a:ext cx="2139751" cy="53860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aramond" panose="02020404030301010803" pitchFamily="18" charset="0"/>
              <a:buNone/>
            </a:pPr>
            <a:r>
              <a:rPr lang="en-US" sz="3500" b="1">
                <a:solidFill>
                  <a:srgbClr val="102747"/>
                </a:solidFill>
              </a:rPr>
              <a:t>0.753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4E146D09-08CC-7EC9-AC63-F7DA9C92FADC}"/>
              </a:ext>
            </a:extLst>
          </p:cNvPr>
          <p:cNvSpPr txBox="1">
            <a:spLocks/>
          </p:cNvSpPr>
          <p:nvPr/>
        </p:nvSpPr>
        <p:spPr>
          <a:xfrm>
            <a:off x="6274122" y="1834263"/>
            <a:ext cx="3227701" cy="24622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600"/>
              <a:t>Disparate Impact Ratio</a:t>
            </a:r>
          </a:p>
        </p:txBody>
      </p:sp>
      <p:sp>
        <p:nvSpPr>
          <p:cNvPr id="28" name="Rectangle: Rounded Corners 10">
            <a:extLst>
              <a:ext uri="{FF2B5EF4-FFF2-40B4-BE49-F238E27FC236}">
                <a16:creationId xmlns:a16="http://schemas.microsoft.com/office/drawing/2014/main" id="{5E3685FF-C84D-29A5-0A2E-ABF1A6792FF8}"/>
              </a:ext>
            </a:extLst>
          </p:cNvPr>
          <p:cNvSpPr/>
          <p:nvPr/>
        </p:nvSpPr>
        <p:spPr>
          <a:xfrm>
            <a:off x="6189714" y="1224316"/>
            <a:ext cx="3396525" cy="10152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24DFEDD-74BF-6383-93A6-ECC6E9476F19}"/>
              </a:ext>
            </a:extLst>
          </p:cNvPr>
          <p:cNvSpPr/>
          <p:nvPr/>
        </p:nvSpPr>
        <p:spPr>
          <a:xfrm>
            <a:off x="2679968" y="5821468"/>
            <a:ext cx="6704006" cy="434048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pic>
        <p:nvPicPr>
          <p:cNvPr id="39" name="Graphic 38" descr="Warning outline">
            <a:extLst>
              <a:ext uri="{FF2B5EF4-FFF2-40B4-BE49-F238E27FC236}">
                <a16:creationId xmlns:a16="http://schemas.microsoft.com/office/drawing/2014/main" id="{B5915208-A8B6-4A2C-D388-7D8176497B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97817" y="5839750"/>
            <a:ext cx="365943" cy="372846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77496BA0-38B8-97CC-D02C-E52BF08A4E7D}"/>
              </a:ext>
            </a:extLst>
          </p:cNvPr>
          <p:cNvSpPr txBox="1"/>
          <p:nvPr/>
        </p:nvSpPr>
        <p:spPr>
          <a:xfrm>
            <a:off x="3217162" y="5852582"/>
            <a:ext cx="62846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GB" sz="1600"/>
              <a:t>Strong evidence of </a:t>
            </a:r>
            <a:r>
              <a:rPr lang="en-GB" sz="1600" b="1"/>
              <a:t>age discrimination</a:t>
            </a:r>
            <a:r>
              <a:rPr lang="en-GB" sz="1600"/>
              <a:t> in </a:t>
            </a:r>
            <a:r>
              <a:rPr lang="en-GB" sz="1600" err="1"/>
              <a:t>NovaCred's</a:t>
            </a:r>
            <a:r>
              <a:rPr lang="en-GB" sz="1600"/>
              <a:t> lending decisions</a:t>
            </a:r>
          </a:p>
        </p:txBody>
      </p:sp>
    </p:spTree>
    <p:extLst>
      <p:ext uri="{BB962C8B-B14F-4D97-AF65-F5344CB8AC3E}">
        <p14:creationId xmlns:p14="http://schemas.microsoft.com/office/powerpoint/2010/main" val="244337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159F0-C78B-9304-5578-37BB7B595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40A9F-A3FA-C506-14D6-BD0D777E1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38963"/>
            <a:ext cx="11258550" cy="701675"/>
          </a:xfrm>
        </p:spPr>
        <p:txBody>
          <a:bodyPr lIns="0" tIns="0" rIns="0" bIns="0" anchor="ctr">
            <a:normAutofit/>
          </a:bodyPr>
          <a:lstStyle/>
          <a:p>
            <a:r>
              <a:rPr lang="en-US" sz="2800"/>
              <a:t>Proxy Analysis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7AFB4E-657D-39FF-29F0-F1F128F6A4D5}"/>
              </a:ext>
            </a:extLst>
          </p:cNvPr>
          <p:cNvSpPr/>
          <p:nvPr/>
        </p:nvSpPr>
        <p:spPr>
          <a:xfrm>
            <a:off x="1" y="226626"/>
            <a:ext cx="221672" cy="840174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85B32-5D8B-42E0-DA39-53F076483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6287" y="6275388"/>
            <a:ext cx="388513" cy="365125"/>
          </a:xfrm>
          <a:solidFill>
            <a:srgbClr val="102747"/>
          </a:solidFill>
        </p:spPr>
        <p:txBody>
          <a:bodyPr/>
          <a:lstStyle/>
          <a:p>
            <a:pPr algn="ctr"/>
            <a:fld id="{20ACEE5B-6B89-47D3-A969-11CC9D54FA43}" type="slidenum">
              <a:rPr lang="en-US" smtClean="0">
                <a:solidFill>
                  <a:schemeClr val="bg1"/>
                </a:solidFill>
              </a:rPr>
              <a:pPr algn="ctr"/>
              <a:t>11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97D1936-F737-E103-2D6D-2422CBCA8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6250" y="6275388"/>
            <a:ext cx="4114800" cy="365125"/>
          </a:xfrm>
        </p:spPr>
        <p:txBody>
          <a:bodyPr lIns="0"/>
          <a:lstStyle/>
          <a:p>
            <a:pPr algn="l"/>
            <a:r>
              <a:rPr lang="en-US" err="1"/>
              <a:t>Dego</a:t>
            </a:r>
            <a:r>
              <a:rPr lang="en-US"/>
              <a:t> 2606|Msc Business </a:t>
            </a:r>
            <a:r>
              <a:rPr lang="en-US" err="1"/>
              <a:t>Analytics|Team</a:t>
            </a:r>
            <a:r>
              <a:rPr lang="en-US"/>
              <a:t> 9|Txa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A336D8-1C83-B61D-72B2-14CFD5509C85}"/>
              </a:ext>
            </a:extLst>
          </p:cNvPr>
          <p:cNvCxnSpPr/>
          <p:nvPr/>
        </p:nvCxnSpPr>
        <p:spPr>
          <a:xfrm>
            <a:off x="4723238" y="6457950"/>
            <a:ext cx="649086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BF6ED65-4F1B-7AF9-5243-051E19BF730C}"/>
              </a:ext>
            </a:extLst>
          </p:cNvPr>
          <p:cNvSpPr txBox="1"/>
          <p:nvPr/>
        </p:nvSpPr>
        <p:spPr>
          <a:xfrm>
            <a:off x="457200" y="239295"/>
            <a:ext cx="6096000" cy="276999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02 | Bias &amp; Fairness Analysis</a:t>
            </a:r>
          </a:p>
        </p:txBody>
      </p:sp>
      <p:pic>
        <p:nvPicPr>
          <p:cNvPr id="9" name="Picture 8" descr="A diagram of a financial graph&#10;&#10;AI-generated content may be incorrect.">
            <a:extLst>
              <a:ext uri="{FF2B5EF4-FFF2-40B4-BE49-F238E27FC236}">
                <a16:creationId xmlns:a16="http://schemas.microsoft.com/office/drawing/2014/main" id="{62013DB6-6744-3DA7-AF81-8A8E6918AA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94"/>
          <a:stretch>
            <a:fillRect/>
          </a:stretch>
        </p:blipFill>
        <p:spPr>
          <a:xfrm>
            <a:off x="110837" y="1468459"/>
            <a:ext cx="4503912" cy="377694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2A49E2E1-457C-AE01-E3A6-BB689F2C47DB}"/>
              </a:ext>
            </a:extLst>
          </p:cNvPr>
          <p:cNvSpPr/>
          <p:nvPr/>
        </p:nvSpPr>
        <p:spPr>
          <a:xfrm>
            <a:off x="476250" y="5614955"/>
            <a:ext cx="11258550" cy="543043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pic>
        <p:nvPicPr>
          <p:cNvPr id="24" name="Graphic 23" descr="Warning outline">
            <a:extLst>
              <a:ext uri="{FF2B5EF4-FFF2-40B4-BE49-F238E27FC236}">
                <a16:creationId xmlns:a16="http://schemas.microsoft.com/office/drawing/2014/main" id="{1B3700A6-3BF8-DA05-FB0B-A0130E042C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7686" y="5700052"/>
            <a:ext cx="365943" cy="37284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B6AE9BE-638D-5473-9D52-79BD628EFE2D}"/>
              </a:ext>
            </a:extLst>
          </p:cNvPr>
          <p:cNvSpPr txBox="1"/>
          <p:nvPr/>
        </p:nvSpPr>
        <p:spPr>
          <a:xfrm>
            <a:off x="1045064" y="5594088"/>
            <a:ext cx="106897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/>
              <a:t>Even without age attribute in the model, discrimination against younger applicants could persist through income, credit history and savings</a:t>
            </a:r>
            <a:endParaRPr lang="en-PT" sz="1600"/>
          </a:p>
        </p:txBody>
      </p:sp>
      <p:sp>
        <p:nvSpPr>
          <p:cNvPr id="39" name="Shape 26">
            <a:extLst>
              <a:ext uri="{FF2B5EF4-FFF2-40B4-BE49-F238E27FC236}">
                <a16:creationId xmlns:a16="http://schemas.microsoft.com/office/drawing/2014/main" id="{49172E82-77BF-ECEB-F770-37526CFC91F9}"/>
              </a:ext>
            </a:extLst>
          </p:cNvPr>
          <p:cNvSpPr/>
          <p:nvPr/>
        </p:nvSpPr>
        <p:spPr>
          <a:xfrm>
            <a:off x="4842093" y="1244678"/>
            <a:ext cx="3422213" cy="2462212"/>
          </a:xfrm>
          <a:prstGeom prst="rect">
            <a:avLst/>
          </a:prstGeom>
          <a:solidFill>
            <a:srgbClr val="FFFFFF"/>
          </a:solidFill>
          <a:ln w="19050">
            <a:solidFill>
              <a:schemeClr val="bg2">
                <a:lumMod val="10000"/>
              </a:schemeClr>
            </a:solidFill>
            <a:prstDash val="solid"/>
          </a:ln>
        </p:spPr>
        <p:txBody>
          <a:bodyPr/>
          <a:lstStyle/>
          <a:p>
            <a:endParaRPr lang="en-PT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3716441-584C-C798-F18B-4FB241469A59}"/>
                  </a:ext>
                </a:extLst>
              </p:cNvPr>
              <p:cNvSpPr txBox="1"/>
              <p:nvPr/>
            </p:nvSpPr>
            <p:spPr>
              <a:xfrm>
                <a:off x="4842094" y="1602604"/>
                <a:ext cx="3422212" cy="21236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marR="0" lvl="0" indent="-28575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PT" sz="1600" b="1"/>
                  <a:t>Income: </a:t>
                </a:r>
                <a:r>
                  <a:rPr lang="en-GB" sz="1600"/>
                  <a:t>potential proxy (r = +0.39) Age </a:t>
                </a:r>
                <a14:m>
                  <m:oMath xmlns:m="http://schemas.openxmlformats.org/officeDocument/2006/math">
                    <m:r>
                      <a:rPr lang="en-GB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  <m:r>
                      <a:rPr lang="pt-PT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→</m:t>
                    </m:r>
                    <m:r>
                      <m:rPr>
                        <m:sty m:val="p"/>
                      </m:rPr>
                      <a:rPr lang="pt-PT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en-GB" sz="1600" err="1"/>
                  <a:t>ncome</a:t>
                </a:r>
                <a:r>
                  <a:rPr lang="en-GB" sz="1600"/>
                  <a:t> </a:t>
                </a:r>
                <a14:m>
                  <m:oMath xmlns:m="http://schemas.openxmlformats.org/officeDocument/2006/math">
                    <m:r>
                      <a:rPr lang="en-GB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GB" sz="1600"/>
                  <a:t> </a:t>
                </a:r>
              </a:p>
              <a:p>
                <a:pPr marL="285750" marR="0" lvl="0" indent="-28575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PT" sz="1600" b="1"/>
                  <a:t>Credit History: </a:t>
                </a:r>
                <a:r>
                  <a:rPr lang="en-GB" sz="1600"/>
                  <a:t>strongest potential proxy (r = +0.65). Age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  <m:r>
                      <a:rPr lang="pt-PT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→</m:t>
                    </m:r>
                  </m:oMath>
                </a14:m>
                <a:r>
                  <a:rPr lang="en-GB" sz="1600"/>
                  <a:t> Credit History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endParaRPr lang="en-GB" sz="1600"/>
              </a:p>
              <a:p>
                <a:pPr marL="285750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  <a:defRPr/>
                </a:pPr>
                <a:r>
                  <a:rPr lang="en-PT" sz="1600" b="1"/>
                  <a:t>Savings: </a:t>
                </a:r>
                <a:r>
                  <a:rPr lang="en-PT" sz="1600"/>
                  <a:t>potential proxy (</a:t>
                </a:r>
                <a:r>
                  <a:rPr lang="en-GB" sz="1600"/>
                  <a:t>r = +0.29) Age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  <m:r>
                      <a:rPr lang="pt-PT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→</m:t>
                    </m:r>
                  </m:oMath>
                </a14:m>
                <a:r>
                  <a:rPr lang="en-GB" sz="1600"/>
                  <a:t> Savings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endParaRPr lang="en-GB" sz="160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3716441-584C-C798-F18B-4FB241469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2094" y="1602604"/>
                <a:ext cx="3422212" cy="2123658"/>
              </a:xfrm>
              <a:prstGeom prst="rect">
                <a:avLst/>
              </a:prstGeom>
              <a:blipFill>
                <a:blip r:embed="rId6"/>
                <a:stretch>
                  <a:fillRect l="-712" t="-862" b="-28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558DB186-3889-1D61-CDFB-02B5A1D6A869}"/>
              </a:ext>
            </a:extLst>
          </p:cNvPr>
          <p:cNvSpPr txBox="1"/>
          <p:nvPr/>
        </p:nvSpPr>
        <p:spPr>
          <a:xfrm>
            <a:off x="4842094" y="1264050"/>
            <a:ext cx="25626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None/>
              <a:defRPr sz="2000" b="0" i="0" u="none" strike="noStrike" kern="1200" spc="0" baseline="0">
                <a:solidFill>
                  <a:srgbClr val="102747"/>
                </a:solidFill>
                <a:latin typeface="+mn-lt"/>
                <a:ea typeface="+mn-ea"/>
                <a:cs typeface="+mn-cs"/>
              </a:defRPr>
            </a:pPr>
            <a:r>
              <a:rPr lang="en-US" sz="1600" b="1"/>
              <a:t>Pearson Correlation</a:t>
            </a:r>
          </a:p>
        </p:txBody>
      </p:sp>
      <p:sp>
        <p:nvSpPr>
          <p:cNvPr id="42" name="Shape 26">
            <a:extLst>
              <a:ext uri="{FF2B5EF4-FFF2-40B4-BE49-F238E27FC236}">
                <a16:creationId xmlns:a16="http://schemas.microsoft.com/office/drawing/2014/main" id="{7C33278D-4206-CDF3-1355-5C1D6CB999BE}"/>
              </a:ext>
            </a:extLst>
          </p:cNvPr>
          <p:cNvSpPr/>
          <p:nvPr/>
        </p:nvSpPr>
        <p:spPr>
          <a:xfrm>
            <a:off x="8465288" y="1244678"/>
            <a:ext cx="3422213" cy="2462212"/>
          </a:xfrm>
          <a:prstGeom prst="rect">
            <a:avLst/>
          </a:prstGeom>
          <a:solidFill>
            <a:srgbClr val="FFFFFF"/>
          </a:solidFill>
          <a:ln w="19050">
            <a:solidFill>
              <a:schemeClr val="bg2">
                <a:lumMod val="10000"/>
              </a:schemeClr>
            </a:solidFill>
            <a:prstDash val="solid"/>
          </a:ln>
        </p:spPr>
        <p:txBody>
          <a:bodyPr/>
          <a:lstStyle/>
          <a:p>
            <a:endParaRPr lang="en-PT" sz="240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4DB8406-2FDF-E477-D994-DD793E1AD003}"/>
              </a:ext>
            </a:extLst>
          </p:cNvPr>
          <p:cNvSpPr txBox="1"/>
          <p:nvPr/>
        </p:nvSpPr>
        <p:spPr>
          <a:xfrm>
            <a:off x="8465288" y="1602604"/>
            <a:ext cx="358826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PT" sz="1600" b="1"/>
              <a:t>Income: </a:t>
            </a:r>
            <a:r>
              <a:rPr lang="en-GB" sz="1600"/>
              <a:t>≤35 earn </a:t>
            </a:r>
            <a:r>
              <a:rPr lang="en-GB" sz="1600" b="1"/>
              <a:t>€31,324 less</a:t>
            </a:r>
            <a:r>
              <a:rPr lang="en-GB" sz="1600"/>
              <a:t> on average (p = 0.000)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PT" sz="1600" b="1"/>
              <a:t>Credit History: </a:t>
            </a:r>
            <a:r>
              <a:rPr lang="en-GB" sz="1600"/>
              <a:t>≤35 have </a:t>
            </a:r>
            <a:r>
              <a:rPr lang="en-GB" sz="1600" b="1"/>
              <a:t>half </a:t>
            </a:r>
            <a:r>
              <a:rPr lang="en-GB" sz="1600"/>
              <a:t>the credit history (p = 0.000)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PT" sz="1600" b="1"/>
              <a:t>Savings: </a:t>
            </a:r>
            <a:r>
              <a:rPr lang="en-GB"/>
              <a:t>≤35 have </a:t>
            </a:r>
            <a:r>
              <a:rPr lang="en-GB" b="1"/>
              <a:t>€13,798 less</a:t>
            </a:r>
            <a:r>
              <a:rPr lang="en-GB"/>
              <a:t> in savings (p = 0.000)</a:t>
            </a:r>
            <a:endParaRPr lang="en-GB" sz="160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A633DDA-D86D-E1E1-E7D7-F9737A4F0D1A}"/>
              </a:ext>
            </a:extLst>
          </p:cNvPr>
          <p:cNvSpPr txBox="1"/>
          <p:nvPr/>
        </p:nvSpPr>
        <p:spPr>
          <a:xfrm>
            <a:off x="8442449" y="1264050"/>
            <a:ext cx="37495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0"/>
              </a:spcBef>
              <a:buClrTx/>
              <a:buNone/>
              <a:defRPr b="0" i="0" u="none" strike="noStrike" spc="0" baseline="0">
                <a:solidFill>
                  <a:srgbClr val="102747"/>
                </a:solidFill>
              </a:defRPr>
            </a:lvl1pPr>
          </a:lstStyle>
          <a:p>
            <a:r>
              <a:rPr lang="en-US" sz="1600" b="1"/>
              <a:t>T-test - </a:t>
            </a:r>
            <a:r>
              <a:rPr lang="en-GB" sz="1600" b="1"/>
              <a:t>mean comparison ≤35 vs &gt;35:</a:t>
            </a:r>
          </a:p>
        </p:txBody>
      </p:sp>
      <p:sp>
        <p:nvSpPr>
          <p:cNvPr id="45" name="Shape 26">
            <a:extLst>
              <a:ext uri="{FF2B5EF4-FFF2-40B4-BE49-F238E27FC236}">
                <a16:creationId xmlns:a16="http://schemas.microsoft.com/office/drawing/2014/main" id="{30F15D16-8818-07F5-BAAE-BB8573552842}"/>
              </a:ext>
            </a:extLst>
          </p:cNvPr>
          <p:cNvSpPr/>
          <p:nvPr/>
        </p:nvSpPr>
        <p:spPr>
          <a:xfrm>
            <a:off x="4842092" y="3803415"/>
            <a:ext cx="7045409" cy="1673283"/>
          </a:xfrm>
          <a:prstGeom prst="rect">
            <a:avLst/>
          </a:prstGeom>
          <a:solidFill>
            <a:srgbClr val="FFFFFF"/>
          </a:solidFill>
          <a:ln w="19050">
            <a:solidFill>
              <a:schemeClr val="bg2">
                <a:lumMod val="10000"/>
              </a:schemeClr>
            </a:solidFill>
            <a:prstDash val="solid"/>
          </a:ln>
        </p:spPr>
        <p:txBody>
          <a:bodyPr/>
          <a:lstStyle/>
          <a:p>
            <a:endParaRPr lang="en-PT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425739E-7CC4-D12C-47DA-9BF68B377450}"/>
                  </a:ext>
                </a:extLst>
              </p:cNvPr>
              <p:cNvSpPr txBox="1"/>
              <p:nvPr/>
            </p:nvSpPr>
            <p:spPr>
              <a:xfrm>
                <a:off x="4842092" y="4116862"/>
                <a:ext cx="7045409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1600" b="1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Age </a:t>
                </a:r>
                <a14:m>
                  <m:oMath xmlns:m="http://schemas.openxmlformats.org/officeDocument/2006/math">
                    <m:r>
                      <a:rPr lang="en-GB" sz="1600" b="1" i="1" kern="1200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en-GB" sz="1600" b="1"/>
                  <a:t> C</a:t>
                </a:r>
                <a:r>
                  <a:rPr lang="en-GB" sz="1600" b="1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redit History: 0.66 </a:t>
                </a:r>
                <a14:m>
                  <m:oMath xmlns:m="http://schemas.openxmlformats.org/officeDocument/2006/math">
                    <m:r>
                      <a:rPr lang="en-GB" sz="1600" b="1" i="1" kern="12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GB" sz="1600" b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strongest relationship in the matrix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1600" b="1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Age </a:t>
                </a:r>
                <a14:m>
                  <m:oMath xmlns:m="http://schemas.openxmlformats.org/officeDocument/2006/math">
                    <m:r>
                      <a:rPr lang="en-GB" sz="16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 </m:t>
                    </m:r>
                  </m:oMath>
                </a14:m>
                <a:r>
                  <a:rPr lang="en-GB" sz="1600" b="1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Income: 0.39 </a:t>
                </a:r>
                <a14:m>
                  <m:oMath xmlns:m="http://schemas.openxmlformats.org/officeDocument/2006/math">
                    <m:r>
                      <a:rPr lang="en-GB" sz="1600" b="1" i="1" kern="12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GB" sz="1600" b="1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GB" sz="1600" b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suggests income as an age proxy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1600" b="1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Age </a:t>
                </a:r>
                <a14:m>
                  <m:oMath xmlns:m="http://schemas.openxmlformats.org/officeDocument/2006/math">
                    <m:r>
                      <a:rPr lang="en-GB" sz="16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 </m:t>
                    </m:r>
                  </m:oMath>
                </a14:m>
                <a:r>
                  <a:rPr lang="en-GB" sz="1600" b="1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Savings: 0.28</a:t>
                </a:r>
                <a:r>
                  <a:rPr lang="en-GB" sz="1600" b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GB" sz="1600" b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suggests savings as an age proxy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1600" b="1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Age </a:t>
                </a:r>
                <a14:m>
                  <m:oMath xmlns:m="http://schemas.openxmlformats.org/officeDocument/2006/math">
                    <m:r>
                      <a:rPr lang="en-GB" sz="16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 </m:t>
                    </m:r>
                  </m:oMath>
                </a14:m>
                <a:r>
                  <a:rPr lang="en-GB" sz="1600" b="1"/>
                  <a:t>L</a:t>
                </a:r>
                <a:r>
                  <a:rPr lang="en-GB" sz="1600" b="1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oan</a:t>
                </a:r>
                <a:r>
                  <a:rPr lang="en-GB" sz="1600" b="1"/>
                  <a:t> A</a:t>
                </a:r>
                <a:r>
                  <a:rPr lang="en-GB" sz="1600" b="1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pproved: 0.12</a:t>
                </a:r>
                <a:r>
                  <a:rPr lang="en-GB" sz="1600" b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GB" sz="1600" b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weak positive correlation, meaning age alone has a modest direct relationship with approval</a:t>
                </a: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425739E-7CC4-D12C-47DA-9BF68B3774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2092" y="4116862"/>
                <a:ext cx="7045409" cy="1323439"/>
              </a:xfrm>
              <a:prstGeom prst="rect">
                <a:avLst/>
              </a:prstGeom>
              <a:blipFill>
                <a:blip r:embed="rId7"/>
                <a:stretch>
                  <a:fillRect l="-346" t="-1382" b="-50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870069B6-2627-28E0-EB10-1BA9033B80B6}"/>
              </a:ext>
            </a:extLst>
          </p:cNvPr>
          <p:cNvSpPr txBox="1"/>
          <p:nvPr/>
        </p:nvSpPr>
        <p:spPr>
          <a:xfrm>
            <a:off x="4842092" y="3822787"/>
            <a:ext cx="296077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ClrTx/>
              <a:buNone/>
              <a:defRPr sz="2000" b="0" i="0" u="none" strike="noStrike" kern="1200" spc="0" baseline="0">
                <a:solidFill>
                  <a:srgbClr val="102747"/>
                </a:solidFill>
                <a:latin typeface="+mn-lt"/>
                <a:ea typeface="+mn-ea"/>
                <a:cs typeface="+mn-cs"/>
              </a:defRPr>
            </a:pPr>
            <a:r>
              <a:rPr lang="en-US" sz="1600" b="1"/>
              <a:t>Correlation Matrix</a:t>
            </a:r>
          </a:p>
        </p:txBody>
      </p:sp>
    </p:spTree>
    <p:extLst>
      <p:ext uri="{BB962C8B-B14F-4D97-AF65-F5344CB8AC3E}">
        <p14:creationId xmlns:p14="http://schemas.microsoft.com/office/powerpoint/2010/main" val="1701849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7874B-7C45-CFBB-872D-662C2CB36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82B9042-1807-5B09-247E-BF4A5117EBE2}"/>
              </a:ext>
            </a:extLst>
          </p:cNvPr>
          <p:cNvSpPr/>
          <p:nvPr/>
        </p:nvSpPr>
        <p:spPr>
          <a:xfrm>
            <a:off x="0" y="4038601"/>
            <a:ext cx="855406" cy="2095496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1B89E27-FE62-C30B-CFC6-E1677D46BA84}"/>
              </a:ext>
            </a:extLst>
          </p:cNvPr>
          <p:cNvGrpSpPr/>
          <p:nvPr/>
        </p:nvGrpSpPr>
        <p:grpSpPr>
          <a:xfrm>
            <a:off x="1297542" y="4266919"/>
            <a:ext cx="8063425" cy="1065653"/>
            <a:chOff x="810520" y="2509978"/>
            <a:chExt cx="8063425" cy="106565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C9DD401-F71B-02E7-2011-DBEF8CE0E105}"/>
                </a:ext>
              </a:extLst>
            </p:cNvPr>
            <p:cNvSpPr txBox="1"/>
            <p:nvPr/>
          </p:nvSpPr>
          <p:spPr>
            <a:xfrm>
              <a:off x="810520" y="2509978"/>
              <a:ext cx="8063425" cy="923330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r>
                <a:rPr lang="en-US" sz="6000">
                  <a:solidFill>
                    <a:srgbClr val="102747"/>
                  </a:solidFill>
                  <a:latin typeface="Garamond" panose="02020404030301010803" pitchFamily="18" charset="0"/>
                </a:rPr>
                <a:t>Privacy &amp; Governance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AE307F7-2412-9358-4D5A-C778BF903990}"/>
                </a:ext>
              </a:extLst>
            </p:cNvPr>
            <p:cNvCxnSpPr>
              <a:cxnSpLocks/>
            </p:cNvCxnSpPr>
            <p:nvPr/>
          </p:nvCxnSpPr>
          <p:spPr>
            <a:xfrm>
              <a:off x="810520" y="3575631"/>
              <a:ext cx="8063425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0BAD18D6-21F4-D9EB-BB0A-FAB6E631CCF8}"/>
              </a:ext>
            </a:extLst>
          </p:cNvPr>
          <p:cNvSpPr/>
          <p:nvPr/>
        </p:nvSpPr>
        <p:spPr>
          <a:xfrm>
            <a:off x="9803102" y="4038601"/>
            <a:ext cx="2388897" cy="2095496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6" name="Audio 85">
            <a:extLst>
              <a:ext uri="{FF2B5EF4-FFF2-40B4-BE49-F238E27FC236}">
                <a16:creationId xmlns:a16="http://schemas.microsoft.com/office/drawing/2014/main" id="{C7BC08AD-DAEC-8935-D99F-04A44FE95B6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8629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350"/>
    </mc:Choice>
    <mc:Fallback>
      <p:transition spd="slow" advTm="63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6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19D98-9AE7-44E7-8F60-792F270F2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6287" y="6275388"/>
            <a:ext cx="388513" cy="365125"/>
          </a:xfrm>
          <a:solidFill>
            <a:srgbClr val="102747"/>
          </a:solidFill>
        </p:spPr>
        <p:txBody>
          <a:bodyPr/>
          <a:lstStyle/>
          <a:p>
            <a:pPr algn="ctr"/>
            <a:fld id="{20ACEE5B-6B89-47D3-A969-11CC9D54FA43}" type="slidenum">
              <a:rPr lang="en-US" smtClean="0">
                <a:solidFill>
                  <a:schemeClr val="bg1"/>
                </a:solidFill>
              </a:rPr>
              <a:pPr algn="ctr"/>
              <a:t>13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86" name="Content Placeholder 2">
            <a:extLst>
              <a:ext uri="{FF2B5EF4-FFF2-40B4-BE49-F238E27FC236}">
                <a16:creationId xmlns:a16="http://schemas.microsoft.com/office/drawing/2014/main" id="{FDD0BB56-8A13-41D9-A360-0FAF837E790B}"/>
              </a:ext>
            </a:extLst>
          </p:cNvPr>
          <p:cNvSpPr txBox="1">
            <a:spLocks/>
          </p:cNvSpPr>
          <p:nvPr/>
        </p:nvSpPr>
        <p:spPr>
          <a:xfrm>
            <a:off x="414967" y="1396197"/>
            <a:ext cx="4614231" cy="307777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 b="0" i="0" u="none" strike="noStrike" kern="1200" spc="0" baseline="0">
                <a:solidFill>
                  <a:srgbClr val="102747"/>
                </a:solidFill>
                <a:latin typeface="+mn-lt"/>
                <a:ea typeface="+mn-ea"/>
                <a:cs typeface="+mn-cs"/>
              </a:defRPr>
            </a:pPr>
            <a:r>
              <a:rPr lang="en-US" sz="2000">
                <a:solidFill>
                  <a:srgbClr val="102747"/>
                </a:solidFill>
              </a:rPr>
              <a:t>Direct Identifiers — stored in plain text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7A3E70-3744-3A03-0091-72FC30B9AA14}"/>
              </a:ext>
            </a:extLst>
          </p:cNvPr>
          <p:cNvSpPr txBox="1"/>
          <p:nvPr/>
        </p:nvSpPr>
        <p:spPr>
          <a:xfrm>
            <a:off x="414967" y="1898314"/>
            <a:ext cx="1959911" cy="36933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2"/>
                </a:solidFill>
              </a:rPr>
              <a:t>full_name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B06CD8-5C95-9151-0051-E06A6F5771AB}"/>
              </a:ext>
            </a:extLst>
          </p:cNvPr>
          <p:cNvSpPr txBox="1"/>
          <p:nvPr/>
        </p:nvSpPr>
        <p:spPr>
          <a:xfrm>
            <a:off x="414967" y="2587883"/>
            <a:ext cx="1959911" cy="36933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2"/>
                </a:solidFill>
              </a:rPr>
              <a:t>ssn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89ADDF-E0F8-3EAB-758E-84233172C4E7}"/>
              </a:ext>
            </a:extLst>
          </p:cNvPr>
          <p:cNvSpPr txBox="1"/>
          <p:nvPr/>
        </p:nvSpPr>
        <p:spPr>
          <a:xfrm>
            <a:off x="2900406" y="1909692"/>
            <a:ext cx="1822832" cy="36933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2"/>
                </a:solidFill>
              </a:rPr>
              <a:t>email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2452AA-E1B6-1C2B-55B4-9AB9CD18395D}"/>
              </a:ext>
            </a:extLst>
          </p:cNvPr>
          <p:cNvSpPr txBox="1"/>
          <p:nvPr/>
        </p:nvSpPr>
        <p:spPr>
          <a:xfrm>
            <a:off x="2900406" y="2558405"/>
            <a:ext cx="1785097" cy="36755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2"/>
                </a:solidFill>
              </a:rPr>
              <a:t>ip_address</a:t>
            </a: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6052726A-CD3E-F12B-80B8-7D42CDE1D26B}"/>
              </a:ext>
            </a:extLst>
          </p:cNvPr>
          <p:cNvSpPr/>
          <p:nvPr/>
        </p:nvSpPr>
        <p:spPr>
          <a:xfrm>
            <a:off x="414969" y="3435607"/>
            <a:ext cx="53644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1200"/>
              </a:spcAft>
              <a:buClr>
                <a:srgbClr val="102747"/>
              </a:buClr>
              <a:defRPr sz="2000" b="0" i="0" u="none" strike="noStrike" kern="1200" spc="0" baseline="0">
                <a:solidFill>
                  <a:srgbClr val="102747"/>
                </a:solidFill>
                <a:latin typeface="+mn-lt"/>
                <a:ea typeface="+mn-ea"/>
                <a:cs typeface="+mn-cs"/>
              </a:defRPr>
            </a:pPr>
            <a:r>
              <a:rPr lang="en-US" sz="2000">
                <a:solidFill>
                  <a:srgbClr val="102747"/>
                </a:solidFill>
              </a:rPr>
              <a:t>Quasi-Identifiers — re-identification risk</a:t>
            </a:r>
          </a:p>
        </p:txBody>
      </p:sp>
      <p:sp>
        <p:nvSpPr>
          <p:cNvPr id="27" name="Shape 13">
            <a:extLst>
              <a:ext uri="{FF2B5EF4-FFF2-40B4-BE49-F238E27FC236}">
                <a16:creationId xmlns:a16="http://schemas.microsoft.com/office/drawing/2014/main" id="{01D55A7D-0371-5375-14C3-DBAD6DE0BCC8}"/>
              </a:ext>
            </a:extLst>
          </p:cNvPr>
          <p:cNvSpPr/>
          <p:nvPr/>
        </p:nvSpPr>
        <p:spPr>
          <a:xfrm>
            <a:off x="414967" y="3945818"/>
            <a:ext cx="4308269" cy="390144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bg2">
                <a:lumMod val="10000"/>
              </a:schemeClr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chemeClr val="bg2"/>
                </a:solidFill>
              </a:rPr>
              <a:t>date_of_birth alone                                  489 / 502​</a:t>
            </a:r>
            <a:endParaRPr lang="en-PT" sz="1600">
              <a:solidFill>
                <a:schemeClr val="bg2"/>
              </a:solidFill>
            </a:endParaRPr>
          </a:p>
        </p:txBody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BB5EFE76-E5DB-DCB5-9C63-EBB935675ADA}"/>
              </a:ext>
            </a:extLst>
          </p:cNvPr>
          <p:cNvSpPr/>
          <p:nvPr/>
        </p:nvSpPr>
        <p:spPr>
          <a:xfrm>
            <a:off x="414967" y="4501466"/>
            <a:ext cx="4308269" cy="390144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bg2">
                <a:lumMod val="10000"/>
              </a:schemeClr>
            </a:solidFill>
            <a:prstDash val="solid"/>
          </a:ln>
        </p:spPr>
        <p:txBody>
          <a:bodyPr/>
          <a:lstStyle/>
          <a:p>
            <a:r>
              <a:rPr lang="en-US" sz="1600" err="1">
                <a:solidFill>
                  <a:schemeClr val="bg2"/>
                </a:solidFill>
              </a:rPr>
              <a:t>zip_code</a:t>
            </a:r>
            <a:r>
              <a:rPr lang="en-US" sz="1600">
                <a:solidFill>
                  <a:schemeClr val="bg2"/>
                </a:solidFill>
              </a:rPr>
              <a:t> alone                                            51 / 50​2</a:t>
            </a:r>
            <a:endParaRPr lang="en-PT" sz="1600">
              <a:solidFill>
                <a:schemeClr val="bg2"/>
              </a:solidFill>
            </a:endParaRPr>
          </a:p>
        </p:txBody>
      </p:sp>
      <p:sp>
        <p:nvSpPr>
          <p:cNvPr id="31" name="Shape 13">
            <a:extLst>
              <a:ext uri="{FF2B5EF4-FFF2-40B4-BE49-F238E27FC236}">
                <a16:creationId xmlns:a16="http://schemas.microsoft.com/office/drawing/2014/main" id="{4C4C8E4B-FBC5-0352-A1A2-461EB30D60B6}"/>
              </a:ext>
            </a:extLst>
          </p:cNvPr>
          <p:cNvSpPr/>
          <p:nvPr/>
        </p:nvSpPr>
        <p:spPr>
          <a:xfrm>
            <a:off x="414967" y="5090542"/>
            <a:ext cx="4308269" cy="390144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bg2">
                <a:lumMod val="10000"/>
              </a:schemeClr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chemeClr val="bg2"/>
                </a:solidFill>
              </a:rPr>
              <a:t>dob + zip                                                  499 / 502​</a:t>
            </a:r>
            <a:endParaRPr lang="en-PT" sz="1600">
              <a:solidFill>
                <a:schemeClr val="bg2"/>
              </a:solidFill>
            </a:endParaRPr>
          </a:p>
        </p:txBody>
      </p:sp>
      <p:sp>
        <p:nvSpPr>
          <p:cNvPr id="32" name="Shape 13">
            <a:extLst>
              <a:ext uri="{FF2B5EF4-FFF2-40B4-BE49-F238E27FC236}">
                <a16:creationId xmlns:a16="http://schemas.microsoft.com/office/drawing/2014/main" id="{4686BE08-C9BA-1411-A9C3-3F638490072E}"/>
              </a:ext>
            </a:extLst>
          </p:cNvPr>
          <p:cNvSpPr/>
          <p:nvPr/>
        </p:nvSpPr>
        <p:spPr>
          <a:xfrm>
            <a:off x="414967" y="5677606"/>
            <a:ext cx="4308269" cy="390144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bg2">
                <a:lumMod val="10000"/>
              </a:schemeClr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chemeClr val="bg2"/>
                </a:solidFill>
              </a:rPr>
              <a:t>dob + zip + gender                  499 / 502 — </a:t>
            </a:r>
            <a:r>
              <a:rPr lang="en-US" b="1">
                <a:solidFill>
                  <a:schemeClr val="bg2"/>
                </a:solidFill>
              </a:rPr>
              <a:t>99.4%​</a:t>
            </a:r>
            <a:endParaRPr lang="en-PT" b="1">
              <a:solidFill>
                <a:schemeClr val="bg2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56080D7-CD12-E3B8-DB84-FAA5CEED378A}"/>
              </a:ext>
            </a:extLst>
          </p:cNvPr>
          <p:cNvSpPr txBox="1"/>
          <p:nvPr/>
        </p:nvSpPr>
        <p:spPr>
          <a:xfrm>
            <a:off x="5779447" y="1348962"/>
            <a:ext cx="52450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srgbClr val="102747"/>
              </a:buClr>
              <a:defRPr sz="2000" b="0" i="0" u="none" strike="noStrike" kern="1200" spc="0" baseline="0">
                <a:solidFill>
                  <a:srgbClr val="102747"/>
                </a:solidFill>
                <a:latin typeface="+mn-lt"/>
                <a:ea typeface="+mn-ea"/>
                <a:cs typeface="+mn-cs"/>
              </a:defRPr>
            </a:pPr>
            <a:r>
              <a:rPr lang="en-US" sz="2000">
                <a:solidFill>
                  <a:srgbClr val="102747"/>
                </a:solidFill>
              </a:rPr>
              <a:t>Pseudonymization — SHA-256 Salted Hashing</a:t>
            </a:r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1551DF34-B21E-AD4A-0500-3D78003531A9}"/>
              </a:ext>
            </a:extLst>
          </p:cNvPr>
          <p:cNvSpPr/>
          <p:nvPr/>
        </p:nvSpPr>
        <p:spPr>
          <a:xfrm>
            <a:off x="5779447" y="1888999"/>
            <a:ext cx="5353103" cy="915823"/>
          </a:xfrm>
          <a:prstGeom prst="rect">
            <a:avLst/>
          </a:prstGeom>
          <a:solidFill>
            <a:srgbClr val="FFFFFF"/>
          </a:solidFill>
          <a:ln w="19050">
            <a:solidFill>
              <a:schemeClr val="bg2">
                <a:lumMod val="10000"/>
              </a:schemeClr>
            </a:solidFill>
            <a:prstDash val="solid"/>
          </a:ln>
        </p:spPr>
        <p:txBody>
          <a:bodyPr/>
          <a:lstStyle/>
          <a:p>
            <a:endParaRPr lang="en-PT" sz="2400"/>
          </a:p>
        </p:txBody>
      </p:sp>
      <p:sp>
        <p:nvSpPr>
          <p:cNvPr id="36" name="Shape 29">
            <a:extLst>
              <a:ext uri="{FF2B5EF4-FFF2-40B4-BE49-F238E27FC236}">
                <a16:creationId xmlns:a16="http://schemas.microsoft.com/office/drawing/2014/main" id="{B14BB277-F185-2FF0-65D3-ACC487F82191}"/>
              </a:ext>
            </a:extLst>
          </p:cNvPr>
          <p:cNvSpPr/>
          <p:nvPr/>
        </p:nvSpPr>
        <p:spPr>
          <a:xfrm>
            <a:off x="5779448" y="2975818"/>
            <a:ext cx="5353102" cy="914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bg2">
                <a:lumMod val="10000"/>
              </a:schemeClr>
            </a:solidFill>
            <a:prstDash val="solid"/>
          </a:ln>
        </p:spPr>
        <p:txBody>
          <a:bodyPr/>
          <a:lstStyle/>
          <a:p>
            <a:endParaRPr lang="en-PT" sz="2400"/>
          </a:p>
        </p:txBody>
      </p:sp>
      <p:sp>
        <p:nvSpPr>
          <p:cNvPr id="37" name="Shape 32">
            <a:extLst>
              <a:ext uri="{FF2B5EF4-FFF2-40B4-BE49-F238E27FC236}">
                <a16:creationId xmlns:a16="http://schemas.microsoft.com/office/drawing/2014/main" id="{4DA2D72E-F40C-5FC0-F5AA-040C004FB491}"/>
              </a:ext>
            </a:extLst>
          </p:cNvPr>
          <p:cNvSpPr/>
          <p:nvPr/>
        </p:nvSpPr>
        <p:spPr>
          <a:xfrm>
            <a:off x="5779448" y="4064584"/>
            <a:ext cx="5353102" cy="9144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bg2">
                <a:lumMod val="10000"/>
              </a:schemeClr>
            </a:solidFill>
            <a:prstDash val="solid"/>
          </a:ln>
        </p:spPr>
        <p:txBody>
          <a:bodyPr/>
          <a:lstStyle/>
          <a:p>
            <a:endParaRPr lang="en-PT" sz="2400"/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6A579827-3D4B-88DB-E992-F91F1CE0A684}"/>
              </a:ext>
            </a:extLst>
          </p:cNvPr>
          <p:cNvSpPr/>
          <p:nvPr/>
        </p:nvSpPr>
        <p:spPr>
          <a:xfrm>
            <a:off x="5779449" y="5153350"/>
            <a:ext cx="5353102" cy="9144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prstDash val="solid"/>
          </a:ln>
        </p:spPr>
        <p:txBody>
          <a:bodyPr/>
          <a:lstStyle/>
          <a:p>
            <a:endParaRPr lang="en-PT" sz="2400"/>
          </a:p>
        </p:txBody>
      </p:sp>
      <p:sp>
        <p:nvSpPr>
          <p:cNvPr id="39" name="Text 28">
            <a:extLst>
              <a:ext uri="{FF2B5EF4-FFF2-40B4-BE49-F238E27FC236}">
                <a16:creationId xmlns:a16="http://schemas.microsoft.com/office/drawing/2014/main" id="{3B4B2E9A-41AA-BF9F-7D99-37AA31722C13}"/>
              </a:ext>
            </a:extLst>
          </p:cNvPr>
          <p:cNvSpPr/>
          <p:nvPr/>
        </p:nvSpPr>
        <p:spPr>
          <a:xfrm>
            <a:off x="5889990" y="2214452"/>
            <a:ext cx="52425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>
                <a:solidFill>
                  <a:srgbClr val="64748B"/>
                </a:solidFill>
              </a:rPr>
              <a:t>john.smith@gmail.com  →  stored as-is</a:t>
            </a:r>
            <a:endParaRPr lang="en-US" sz="1267"/>
          </a:p>
        </p:txBody>
      </p:sp>
      <p:sp>
        <p:nvSpPr>
          <p:cNvPr id="40" name="Text 27">
            <a:extLst>
              <a:ext uri="{FF2B5EF4-FFF2-40B4-BE49-F238E27FC236}">
                <a16:creationId xmlns:a16="http://schemas.microsoft.com/office/drawing/2014/main" id="{555A8FA8-B7F8-7189-51C1-CB6A86705185}"/>
              </a:ext>
            </a:extLst>
          </p:cNvPr>
          <p:cNvSpPr/>
          <p:nvPr/>
        </p:nvSpPr>
        <p:spPr>
          <a:xfrm>
            <a:off x="5889990" y="1989959"/>
            <a:ext cx="52425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2D3748"/>
                </a:solidFill>
              </a:rPr>
              <a:t>Before</a:t>
            </a:r>
            <a:endParaRPr lang="en-US" sz="1400"/>
          </a:p>
        </p:txBody>
      </p:sp>
      <p:sp>
        <p:nvSpPr>
          <p:cNvPr id="41" name="Text 30">
            <a:extLst>
              <a:ext uri="{FF2B5EF4-FFF2-40B4-BE49-F238E27FC236}">
                <a16:creationId xmlns:a16="http://schemas.microsoft.com/office/drawing/2014/main" id="{CB0600BD-1778-8966-8682-4C376463E231}"/>
              </a:ext>
            </a:extLst>
          </p:cNvPr>
          <p:cNvSpPr/>
          <p:nvPr/>
        </p:nvSpPr>
        <p:spPr>
          <a:xfrm>
            <a:off x="5889990" y="3071277"/>
            <a:ext cx="52425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2D3748"/>
                </a:solidFill>
              </a:rPr>
              <a:t>After (basic hash)</a:t>
            </a:r>
            <a:endParaRPr lang="en-US" sz="1400"/>
          </a:p>
        </p:txBody>
      </p:sp>
      <p:sp>
        <p:nvSpPr>
          <p:cNvPr id="42" name="Text 31">
            <a:extLst>
              <a:ext uri="{FF2B5EF4-FFF2-40B4-BE49-F238E27FC236}">
                <a16:creationId xmlns:a16="http://schemas.microsoft.com/office/drawing/2014/main" id="{627AF063-74CB-6CEB-89B8-08A05EC33D3D}"/>
              </a:ext>
            </a:extLst>
          </p:cNvPr>
          <p:cNvSpPr/>
          <p:nvPr/>
        </p:nvSpPr>
        <p:spPr>
          <a:xfrm>
            <a:off x="5889990" y="3307978"/>
            <a:ext cx="52425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>
                <a:solidFill>
                  <a:srgbClr val="64748B"/>
                </a:solidFill>
              </a:rPr>
              <a:t>a3f2b1c9d4  (SHA-256, truncated)</a:t>
            </a:r>
            <a:endParaRPr lang="en-US" sz="1267"/>
          </a:p>
        </p:txBody>
      </p:sp>
      <p:sp>
        <p:nvSpPr>
          <p:cNvPr id="43" name="Text 33">
            <a:extLst>
              <a:ext uri="{FF2B5EF4-FFF2-40B4-BE49-F238E27FC236}">
                <a16:creationId xmlns:a16="http://schemas.microsoft.com/office/drawing/2014/main" id="{564B9BF6-D6EE-09CD-68DF-54B1D742D485}"/>
              </a:ext>
            </a:extLst>
          </p:cNvPr>
          <p:cNvSpPr/>
          <p:nvPr/>
        </p:nvSpPr>
        <p:spPr>
          <a:xfrm>
            <a:off x="5889990" y="4164803"/>
            <a:ext cx="52425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/>
              <a:t>Weakness</a:t>
            </a:r>
            <a:endParaRPr lang="en-US" sz="1400"/>
          </a:p>
        </p:txBody>
      </p:sp>
      <p:sp>
        <p:nvSpPr>
          <p:cNvPr id="44" name="Text 34">
            <a:extLst>
              <a:ext uri="{FF2B5EF4-FFF2-40B4-BE49-F238E27FC236}">
                <a16:creationId xmlns:a16="http://schemas.microsoft.com/office/drawing/2014/main" id="{F4A12B45-E7B1-990F-2DA2-CB9687F13C51}"/>
              </a:ext>
            </a:extLst>
          </p:cNvPr>
          <p:cNvSpPr/>
          <p:nvPr/>
        </p:nvSpPr>
        <p:spPr>
          <a:xfrm>
            <a:off x="5889990" y="4433844"/>
            <a:ext cx="52425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/>
              <a:t>Brute-force reversible: attacker regenerates hash from known IP range</a:t>
            </a:r>
          </a:p>
        </p:txBody>
      </p:sp>
      <p:sp>
        <p:nvSpPr>
          <p:cNvPr id="45" name="Text 36">
            <a:extLst>
              <a:ext uri="{FF2B5EF4-FFF2-40B4-BE49-F238E27FC236}">
                <a16:creationId xmlns:a16="http://schemas.microsoft.com/office/drawing/2014/main" id="{88028C3C-A4D7-D543-3C23-4F55E9DF569D}"/>
              </a:ext>
            </a:extLst>
          </p:cNvPr>
          <p:cNvSpPr/>
          <p:nvPr/>
        </p:nvSpPr>
        <p:spPr>
          <a:xfrm>
            <a:off x="5889991" y="5253712"/>
            <a:ext cx="52425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chemeClr val="bg2"/>
                </a:solidFill>
              </a:rPr>
              <a:t>Fix: Salted hash</a:t>
            </a:r>
            <a:endParaRPr lang="en-US" sz="1400">
              <a:solidFill>
                <a:schemeClr val="bg2"/>
              </a:solidFill>
            </a:endParaRPr>
          </a:p>
        </p:txBody>
      </p:sp>
      <p:sp>
        <p:nvSpPr>
          <p:cNvPr id="47" name="Text 37">
            <a:extLst>
              <a:ext uri="{FF2B5EF4-FFF2-40B4-BE49-F238E27FC236}">
                <a16:creationId xmlns:a16="http://schemas.microsoft.com/office/drawing/2014/main" id="{C0FFECBC-2D69-552B-2AA9-E88A46855866}"/>
              </a:ext>
            </a:extLst>
          </p:cNvPr>
          <p:cNvSpPr/>
          <p:nvPr/>
        </p:nvSpPr>
        <p:spPr>
          <a:xfrm>
            <a:off x="5889990" y="5515075"/>
            <a:ext cx="52425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>
                <a:solidFill>
                  <a:schemeClr val="bg2"/>
                </a:solidFill>
              </a:rPr>
              <a:t>salt + value → SHA-256 — computationally irreversible</a:t>
            </a:r>
          </a:p>
        </p:txBody>
      </p:sp>
      <p:sp>
        <p:nvSpPr>
          <p:cNvPr id="29" name="Footer Placeholder 6">
            <a:extLst>
              <a:ext uri="{FF2B5EF4-FFF2-40B4-BE49-F238E27FC236}">
                <a16:creationId xmlns:a16="http://schemas.microsoft.com/office/drawing/2014/main" id="{CDFEAA4D-1ED3-4146-AC1E-BBBA5D656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6250" y="6275388"/>
            <a:ext cx="4114800" cy="365125"/>
          </a:xfrm>
        </p:spPr>
        <p:txBody>
          <a:bodyPr lIns="0"/>
          <a:lstStyle/>
          <a:p>
            <a:pPr algn="l"/>
            <a:r>
              <a:rPr lang="en-US" err="1"/>
              <a:t>Dego</a:t>
            </a:r>
            <a:r>
              <a:rPr lang="en-US"/>
              <a:t> 2606|Msc Business </a:t>
            </a:r>
            <a:r>
              <a:rPr lang="en-US" err="1"/>
              <a:t>Analytics|Team</a:t>
            </a:r>
            <a:r>
              <a:rPr lang="en-US"/>
              <a:t> 9|Txa</a:t>
            </a:r>
          </a:p>
          <a:p>
            <a:pPr algn="l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4BF5E59-5335-2993-A13D-922EAE7E20BE}"/>
              </a:ext>
            </a:extLst>
          </p:cNvPr>
          <p:cNvSpPr txBox="1">
            <a:spLocks/>
          </p:cNvSpPr>
          <p:nvPr/>
        </p:nvSpPr>
        <p:spPr>
          <a:xfrm>
            <a:off x="457200" y="438963"/>
            <a:ext cx="11258550" cy="70167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/>
              <a:t>Privacy — PII &amp; Re-identification Risk​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4E2F45-FD8C-6798-20C9-FC2BFF013588}"/>
              </a:ext>
            </a:extLst>
          </p:cNvPr>
          <p:cNvSpPr/>
          <p:nvPr/>
        </p:nvSpPr>
        <p:spPr>
          <a:xfrm>
            <a:off x="1" y="226626"/>
            <a:ext cx="221672" cy="840174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D25DE9-AA68-4D61-A0DA-064D2F520309}"/>
              </a:ext>
            </a:extLst>
          </p:cNvPr>
          <p:cNvSpPr txBox="1"/>
          <p:nvPr/>
        </p:nvSpPr>
        <p:spPr>
          <a:xfrm>
            <a:off x="457200" y="239295"/>
            <a:ext cx="6096000" cy="276999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03 | Privacy &amp; Governance</a:t>
            </a:r>
          </a:p>
        </p:txBody>
      </p:sp>
      <p:pic>
        <p:nvPicPr>
          <p:cNvPr id="259" name="Audio 258">
            <a:extLst>
              <a:ext uri="{FF2B5EF4-FFF2-40B4-BE49-F238E27FC236}">
                <a16:creationId xmlns:a16="http://schemas.microsoft.com/office/drawing/2014/main" id="{EA6F3BDE-D73C-5A34-C73B-4089A658C3B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2348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7440"/>
    </mc:Choice>
    <mc:Fallback>
      <p:transition spd="slow" advTm="274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5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9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E6F3101-7236-1E2A-5013-E20E04B295AF}"/>
              </a:ext>
            </a:extLst>
          </p:cNvPr>
          <p:cNvSpPr txBox="1">
            <a:spLocks/>
          </p:cNvSpPr>
          <p:nvPr/>
        </p:nvSpPr>
        <p:spPr>
          <a:xfrm>
            <a:off x="476250" y="365125"/>
            <a:ext cx="11258550" cy="70167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80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B4A9449-8FA0-06FF-41FE-B782F25DC2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3317530"/>
              </p:ext>
            </p:extLst>
          </p:nvPr>
        </p:nvGraphicFramePr>
        <p:xfrm>
          <a:off x="731520" y="1265276"/>
          <a:ext cx="10306594" cy="3864508"/>
        </p:xfrm>
        <a:graphic>
          <a:graphicData uri="http://schemas.openxmlformats.org/drawingml/2006/table">
            <a:tbl>
              <a:tblPr/>
              <a:tblGrid>
                <a:gridCol w="1137359">
                  <a:extLst>
                    <a:ext uri="{9D8B030D-6E8A-4147-A177-3AD203B41FA5}">
                      <a16:colId xmlns:a16="http://schemas.microsoft.com/office/drawing/2014/main" val="1227946854"/>
                    </a:ext>
                  </a:extLst>
                </a:gridCol>
                <a:gridCol w="3355980">
                  <a:extLst>
                    <a:ext uri="{9D8B030D-6E8A-4147-A177-3AD203B41FA5}">
                      <a16:colId xmlns:a16="http://schemas.microsoft.com/office/drawing/2014/main" val="1692519691"/>
                    </a:ext>
                  </a:extLst>
                </a:gridCol>
                <a:gridCol w="1311938">
                  <a:extLst>
                    <a:ext uri="{9D8B030D-6E8A-4147-A177-3AD203B41FA5}">
                      <a16:colId xmlns:a16="http://schemas.microsoft.com/office/drawing/2014/main" val="982482771"/>
                    </a:ext>
                  </a:extLst>
                </a:gridCol>
                <a:gridCol w="4501317">
                  <a:extLst>
                    <a:ext uri="{9D8B030D-6E8A-4147-A177-3AD203B41FA5}">
                      <a16:colId xmlns:a16="http://schemas.microsoft.com/office/drawing/2014/main" val="1728673271"/>
                    </a:ext>
                  </a:extLst>
                </a:gridCol>
              </a:tblGrid>
              <a:tr h="436809"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Article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Principle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Status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Key Finding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930942"/>
                  </a:ext>
                </a:extLst>
              </a:tr>
              <a:tr h="477671">
                <a:tc>
                  <a:txBody>
                    <a:bodyPr/>
                    <a:lstStyle/>
                    <a:p>
                      <a:pPr algn="l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1E2761"/>
                          </a:solidFill>
                          <a:effectLst/>
                          <a:latin typeface="+mn-lt"/>
                        </a:rPr>
                        <a:t>5(1)(a)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2D3748"/>
                          </a:solidFill>
                          <a:effectLst/>
                          <a:latin typeface="+mn-lt"/>
                        </a:rPr>
                        <a:t>Lawfulness, Fairness &amp; Transparency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C0392B"/>
                          </a:solidFill>
                          <a:effectLst/>
                          <a:latin typeface="+mn-lt"/>
                        </a:rPr>
                        <a:t>FAIL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64748B"/>
                          </a:solidFill>
                          <a:effectLst/>
                          <a:latin typeface="+mn-lt"/>
                        </a:rPr>
                        <a:t>No consent timestamp; DI = 0.77; rejection = 'algorithm_risk_score'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0078825"/>
                  </a:ext>
                </a:extLst>
              </a:tr>
              <a:tr h="478971">
                <a:tc>
                  <a:txBody>
                    <a:bodyPr/>
                    <a:lstStyle/>
                    <a:p>
                      <a:pPr algn="l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1E2761"/>
                          </a:solidFill>
                          <a:effectLst/>
                          <a:latin typeface="+mn-lt"/>
                        </a:rPr>
                        <a:t>5(1)(b)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2D3748"/>
                          </a:solidFill>
                          <a:effectLst/>
                          <a:latin typeface="+mn-lt"/>
                        </a:rPr>
                        <a:t>Purpose Limitation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C0392B"/>
                          </a:solidFill>
                          <a:effectLst/>
                          <a:latin typeface="+mn-lt"/>
                        </a:rPr>
                        <a:t>FAIL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64748B"/>
                          </a:solidFill>
                          <a:effectLst/>
                          <a:latin typeface="+mn-lt"/>
                        </a:rPr>
                        <a:t>No processing_purpose or data_source fields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901168"/>
                  </a:ext>
                </a:extLst>
              </a:tr>
              <a:tr h="556552">
                <a:tc>
                  <a:txBody>
                    <a:bodyPr/>
                    <a:lstStyle/>
                    <a:p>
                      <a:pPr algn="l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1E2761"/>
                          </a:solidFill>
                          <a:effectLst/>
                          <a:latin typeface="+mn-lt"/>
                        </a:rPr>
                        <a:t>5(1)(c)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2D3748"/>
                          </a:solidFill>
                          <a:effectLst/>
                          <a:latin typeface="+mn-lt"/>
                        </a:rPr>
                        <a:t>Data Minimisation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C0392B"/>
                          </a:solidFill>
                          <a:effectLst/>
                          <a:latin typeface="+mn-lt"/>
                        </a:rPr>
                        <a:t>FAIL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64748B"/>
                          </a:solidFill>
                          <a:effectLst/>
                          <a:latin typeface="+mn-lt"/>
                        </a:rPr>
                        <a:t>ip_address, full_name, spending_behavior unnecessary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7011119"/>
                  </a:ext>
                </a:extLst>
              </a:tr>
              <a:tr h="477591">
                <a:tc>
                  <a:txBody>
                    <a:bodyPr/>
                    <a:lstStyle/>
                    <a:p>
                      <a:pPr algn="l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1E2761"/>
                          </a:solidFill>
                          <a:effectLst/>
                          <a:latin typeface="+mn-lt"/>
                        </a:rPr>
                        <a:t>5(1)(d)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2D3748"/>
                          </a:solidFill>
                          <a:effectLst/>
                          <a:latin typeface="+mn-lt"/>
                        </a:rPr>
                        <a:t>Accuracy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C0392B"/>
                          </a:solidFill>
                          <a:effectLst/>
                          <a:latin typeface="+mn-lt"/>
                        </a:rPr>
                        <a:t>FAIL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64748B"/>
                          </a:solidFill>
                          <a:effectLst/>
                          <a:latin typeface="+mn-lt"/>
                        </a:rPr>
                        <a:t>Mixed formats, invalid values, inconsistent encoding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4349103"/>
                  </a:ext>
                </a:extLst>
              </a:tr>
              <a:tr h="500743">
                <a:tc>
                  <a:txBody>
                    <a:bodyPr/>
                    <a:lstStyle/>
                    <a:p>
                      <a:pPr algn="l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1E2761"/>
                          </a:solidFill>
                          <a:effectLst/>
                          <a:latin typeface="+mn-lt"/>
                        </a:rPr>
                        <a:t>5(1)(e)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2D3748"/>
                          </a:solidFill>
                          <a:effectLst/>
                          <a:latin typeface="+mn-lt"/>
                        </a:rPr>
                        <a:t>Storage Limitation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C0392B"/>
                          </a:solidFill>
                          <a:effectLst/>
                          <a:latin typeface="+mn-lt"/>
                        </a:rPr>
                        <a:t>FAIL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64748B"/>
                          </a:solidFill>
                          <a:effectLst/>
                          <a:latin typeface="+mn-lt"/>
                        </a:rPr>
                        <a:t>No retention_until or consent_timestamp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5232816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pPr algn="l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1E2761"/>
                          </a:solidFill>
                          <a:effectLst/>
                          <a:latin typeface="+mn-lt"/>
                        </a:rPr>
                        <a:t>5(1)(f)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2D3748"/>
                          </a:solidFill>
                          <a:effectLst/>
                          <a:latin typeface="+mn-lt"/>
                        </a:rPr>
                        <a:t>Integrity &amp; Confidentiality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C0392B"/>
                          </a:solidFill>
                          <a:effectLst/>
                          <a:latin typeface="+mn-lt"/>
                        </a:rPr>
                        <a:t>FAIL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64748B"/>
                          </a:solidFill>
                          <a:effectLst/>
                          <a:latin typeface="+mn-lt"/>
                        </a:rPr>
                        <a:t>Direct identifiers stored in plain text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5439615"/>
                  </a:ext>
                </a:extLst>
              </a:tr>
              <a:tr h="500742">
                <a:tc>
                  <a:txBody>
                    <a:bodyPr/>
                    <a:lstStyle/>
                    <a:p>
                      <a:pPr algn="l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1E2761"/>
                          </a:solidFill>
                          <a:effectLst/>
                          <a:latin typeface="+mn-lt"/>
                        </a:rPr>
                        <a:t>5(2)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2D3748"/>
                          </a:solidFill>
                          <a:effectLst/>
                          <a:latin typeface="+mn-lt"/>
                        </a:rPr>
                        <a:t>Accountability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C0392B"/>
                          </a:solidFill>
                          <a:effectLst/>
                          <a:latin typeface="+mn-lt"/>
                        </a:rPr>
                        <a:t>FAIL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64748B"/>
                          </a:solidFill>
                          <a:effectLst/>
                          <a:latin typeface="+mn-lt"/>
                        </a:rPr>
                        <a:t>No reviewer_id, decision_timestamp, or model_version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563149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753D33FD-1D6E-307B-F822-270063EE8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1612" y="1491187"/>
            <a:ext cx="1374051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163E9DF7-A1EE-6433-4662-92F0DCAD9F45}"/>
              </a:ext>
            </a:extLst>
          </p:cNvPr>
          <p:cNvSpPr/>
          <p:nvPr/>
        </p:nvSpPr>
        <p:spPr>
          <a:xfrm>
            <a:off x="731520" y="5219436"/>
            <a:ext cx="10306594" cy="886354"/>
          </a:xfrm>
          <a:prstGeom prst="rect">
            <a:avLst/>
          </a:prstGeom>
          <a:solidFill>
            <a:srgbClr val="002060"/>
          </a:solidFill>
          <a:ln w="19050">
            <a:noFill/>
            <a:prstDash val="solid"/>
          </a:ln>
        </p:spPr>
        <p:txBody>
          <a:bodyPr/>
          <a:lstStyle/>
          <a:p>
            <a:endParaRPr lang="en-PT" sz="2400">
              <a:solidFill>
                <a:srgbClr val="002060"/>
              </a:solidFill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6834F311-CACC-07AF-E6FD-1A0AC458975D}"/>
              </a:ext>
            </a:extLst>
          </p:cNvPr>
          <p:cNvSpPr/>
          <p:nvPr/>
        </p:nvSpPr>
        <p:spPr>
          <a:xfrm>
            <a:off x="851263" y="5237664"/>
            <a:ext cx="487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>
                <a:solidFill>
                  <a:schemeClr val="bg1"/>
                </a:solidFill>
              </a:rPr>
              <a:t>EU AI Act — High-Risk Classification</a:t>
            </a:r>
            <a:endParaRPr lang="en-US" sz="1467">
              <a:solidFill>
                <a:schemeClr val="bg1"/>
              </a:solidFill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346FE92B-8611-985E-792F-43791FA19552}"/>
              </a:ext>
            </a:extLst>
          </p:cNvPr>
          <p:cNvSpPr/>
          <p:nvPr/>
        </p:nvSpPr>
        <p:spPr>
          <a:xfrm>
            <a:off x="851263" y="5462705"/>
            <a:ext cx="10012680" cy="75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err="1">
                <a:solidFill>
                  <a:schemeClr val="bg1"/>
                </a:solidFill>
              </a:rPr>
              <a:t>NovaCred's</a:t>
            </a:r>
            <a:r>
              <a:rPr lang="en-US" sz="1267">
                <a:solidFill>
                  <a:schemeClr val="bg1"/>
                </a:solidFill>
              </a:rPr>
              <a:t> credit scoring system qualifies as High-Risk under Annex III. Current gaps:  Data Governance ✗  ·  Human Oversight ✗  ·  Record Keeping ✗  ·  Accuracy &amp; Robustness ✗  ·  Cybersecurity ✗</a:t>
            </a: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CD3C1D0F-40C1-684B-ABE8-80D5CEBDB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6250" y="6275388"/>
            <a:ext cx="4114800" cy="365125"/>
          </a:xfrm>
        </p:spPr>
        <p:txBody>
          <a:bodyPr lIns="0"/>
          <a:lstStyle/>
          <a:p>
            <a:pPr algn="l"/>
            <a:r>
              <a:rPr lang="en-US" err="1"/>
              <a:t>Dego</a:t>
            </a:r>
            <a:r>
              <a:rPr lang="en-US"/>
              <a:t> 2606|Msc Business </a:t>
            </a:r>
            <a:r>
              <a:rPr lang="en-US" err="1"/>
              <a:t>Analytics|Team</a:t>
            </a:r>
            <a:r>
              <a:rPr lang="en-US"/>
              <a:t> 9|Txa</a:t>
            </a:r>
          </a:p>
          <a:p>
            <a:pPr algn="l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62A165F-BA21-2547-AAEB-C0C36B99F5EF}"/>
              </a:ext>
            </a:extLst>
          </p:cNvPr>
          <p:cNvCxnSpPr/>
          <p:nvPr/>
        </p:nvCxnSpPr>
        <p:spPr>
          <a:xfrm>
            <a:off x="4723238" y="6457950"/>
            <a:ext cx="649086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614A339B-5525-EB49-8033-A12656B5E1E1}"/>
              </a:ext>
            </a:extLst>
          </p:cNvPr>
          <p:cNvSpPr txBox="1">
            <a:spLocks/>
          </p:cNvSpPr>
          <p:nvPr/>
        </p:nvSpPr>
        <p:spPr>
          <a:xfrm>
            <a:off x="11346287" y="6275388"/>
            <a:ext cx="388513" cy="365125"/>
          </a:xfrm>
          <a:prstGeom prst="rect">
            <a:avLst/>
          </a:prstGeom>
          <a:solidFill>
            <a:srgbClr val="102747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0ACEE5B-6B89-47D3-A969-11CC9D54FA43}" type="slidenum">
              <a:rPr lang="en-US" smtClean="0">
                <a:solidFill>
                  <a:schemeClr val="bg1"/>
                </a:solidFill>
              </a:rPr>
              <a:pPr algn="ctr"/>
              <a:t>14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FDC27F0-505C-98DF-E446-FB11FFE49A18}"/>
              </a:ext>
            </a:extLst>
          </p:cNvPr>
          <p:cNvSpPr txBox="1">
            <a:spLocks/>
          </p:cNvSpPr>
          <p:nvPr/>
        </p:nvSpPr>
        <p:spPr>
          <a:xfrm>
            <a:off x="457200" y="438963"/>
            <a:ext cx="11258550" cy="70167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/>
              <a:t>Privacy — GDPR Article 5 &amp; EU AI Act Compliance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CE397A6-E056-8252-2F1A-107821606C5E}"/>
              </a:ext>
            </a:extLst>
          </p:cNvPr>
          <p:cNvSpPr/>
          <p:nvPr/>
        </p:nvSpPr>
        <p:spPr>
          <a:xfrm>
            <a:off x="1" y="226626"/>
            <a:ext cx="221672" cy="840174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B74AD0-7523-2E49-0D99-46CB5CF931EF}"/>
              </a:ext>
            </a:extLst>
          </p:cNvPr>
          <p:cNvSpPr txBox="1"/>
          <p:nvPr/>
        </p:nvSpPr>
        <p:spPr>
          <a:xfrm>
            <a:off x="457200" y="239295"/>
            <a:ext cx="6096000" cy="276999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03 | Privacy &amp; Governance</a:t>
            </a:r>
          </a:p>
        </p:txBody>
      </p:sp>
      <p:pic>
        <p:nvPicPr>
          <p:cNvPr id="183" name="Audio 182">
            <a:extLst>
              <a:ext uri="{FF2B5EF4-FFF2-40B4-BE49-F238E27FC236}">
                <a16:creationId xmlns:a16="http://schemas.microsoft.com/office/drawing/2014/main" id="{0613D25E-CAF5-36F1-5C63-7DAC3713761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9572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2518"/>
    </mc:Choice>
    <mc:Fallback>
      <p:transition spd="slow" advTm="3251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8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3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901D6A6-5B05-7467-8AE8-C6171A768DCE}"/>
              </a:ext>
            </a:extLst>
          </p:cNvPr>
          <p:cNvSpPr txBox="1">
            <a:spLocks/>
          </p:cNvSpPr>
          <p:nvPr/>
        </p:nvSpPr>
        <p:spPr>
          <a:xfrm>
            <a:off x="476250" y="365125"/>
            <a:ext cx="11258550" cy="70167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8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C470CFF-6FFA-A5ED-C5BE-C0CFD70C37FE}"/>
              </a:ext>
            </a:extLst>
          </p:cNvPr>
          <p:cNvSpPr/>
          <p:nvPr/>
        </p:nvSpPr>
        <p:spPr>
          <a:xfrm>
            <a:off x="242998" y="1352798"/>
            <a:ext cx="469615" cy="1105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sz="2800" b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E2BB12-ED4A-4C23-071B-785F054DAB3D}"/>
              </a:ext>
            </a:extLst>
          </p:cNvPr>
          <p:cNvSpPr/>
          <p:nvPr/>
        </p:nvSpPr>
        <p:spPr>
          <a:xfrm>
            <a:off x="242998" y="2529006"/>
            <a:ext cx="469615" cy="1105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sz="2800" b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4AAFA8D-3575-FEE0-4A03-517AE06C4564}"/>
              </a:ext>
            </a:extLst>
          </p:cNvPr>
          <p:cNvSpPr/>
          <p:nvPr/>
        </p:nvSpPr>
        <p:spPr>
          <a:xfrm>
            <a:off x="241442" y="3714405"/>
            <a:ext cx="469615" cy="1105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sz="2800" b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564D206-1DB3-36F3-04F0-0DB866C4CD2C}"/>
              </a:ext>
            </a:extLst>
          </p:cNvPr>
          <p:cNvSpPr/>
          <p:nvPr/>
        </p:nvSpPr>
        <p:spPr>
          <a:xfrm>
            <a:off x="241441" y="4899804"/>
            <a:ext cx="469615" cy="1105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sz="2800" b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B4E0697-1718-2B51-2336-DDF89A1115EA}"/>
              </a:ext>
            </a:extLst>
          </p:cNvPr>
          <p:cNvSpPr/>
          <p:nvPr/>
        </p:nvSpPr>
        <p:spPr>
          <a:xfrm>
            <a:off x="6276940" y="3169317"/>
            <a:ext cx="469615" cy="1105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sz="2800" b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ECD61C4-F884-8A07-63F2-331B72FABF98}"/>
              </a:ext>
            </a:extLst>
          </p:cNvPr>
          <p:cNvSpPr/>
          <p:nvPr/>
        </p:nvSpPr>
        <p:spPr>
          <a:xfrm>
            <a:off x="6277629" y="4443661"/>
            <a:ext cx="469615" cy="1105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sz="2800" b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7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D8ED5A5-D5FC-524B-6E39-E2A4A5C151CF}"/>
              </a:ext>
            </a:extLst>
          </p:cNvPr>
          <p:cNvSpPr/>
          <p:nvPr/>
        </p:nvSpPr>
        <p:spPr>
          <a:xfrm>
            <a:off x="6277629" y="1903607"/>
            <a:ext cx="469615" cy="1105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sz="2800" b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5</a:t>
            </a:r>
          </a:p>
        </p:txBody>
      </p:sp>
      <p:sp>
        <p:nvSpPr>
          <p:cNvPr id="19" name="Footer Placeholder 6">
            <a:extLst>
              <a:ext uri="{FF2B5EF4-FFF2-40B4-BE49-F238E27FC236}">
                <a16:creationId xmlns:a16="http://schemas.microsoft.com/office/drawing/2014/main" id="{B1758096-C970-A04A-8F3A-B68B93D55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6250" y="6275388"/>
            <a:ext cx="4114800" cy="365125"/>
          </a:xfrm>
        </p:spPr>
        <p:txBody>
          <a:bodyPr lIns="0"/>
          <a:lstStyle/>
          <a:p>
            <a:pPr algn="l"/>
            <a:r>
              <a:rPr lang="en-US" err="1"/>
              <a:t>Dego</a:t>
            </a:r>
            <a:r>
              <a:rPr lang="en-US"/>
              <a:t> 2606|Msc Business </a:t>
            </a:r>
            <a:r>
              <a:rPr lang="en-US" err="1"/>
              <a:t>Analytics|Team</a:t>
            </a:r>
            <a:r>
              <a:rPr lang="en-US"/>
              <a:t> 9|Txa</a:t>
            </a:r>
          </a:p>
          <a:p>
            <a:pPr algn="l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3E27AF9-38B8-A644-B5D4-2B08CDFD5476}"/>
              </a:ext>
            </a:extLst>
          </p:cNvPr>
          <p:cNvCxnSpPr/>
          <p:nvPr/>
        </p:nvCxnSpPr>
        <p:spPr>
          <a:xfrm>
            <a:off x="4723238" y="6457950"/>
            <a:ext cx="649086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FC283E32-6011-3245-A53E-35F0B17A7FE1}"/>
              </a:ext>
            </a:extLst>
          </p:cNvPr>
          <p:cNvSpPr txBox="1">
            <a:spLocks/>
          </p:cNvSpPr>
          <p:nvPr/>
        </p:nvSpPr>
        <p:spPr>
          <a:xfrm>
            <a:off x="11346287" y="6275388"/>
            <a:ext cx="388513" cy="365125"/>
          </a:xfrm>
          <a:prstGeom prst="rect">
            <a:avLst/>
          </a:prstGeom>
          <a:solidFill>
            <a:srgbClr val="102747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0ACEE5B-6B89-47D3-A969-11CC9D54FA43}" type="slidenum">
              <a:rPr lang="en-US" smtClean="0">
                <a:solidFill>
                  <a:schemeClr val="bg1"/>
                </a:solidFill>
              </a:rPr>
              <a:pPr algn="ctr"/>
              <a:t>15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7CFC0A-202C-F195-CDB8-EEAD7B9BAF69}"/>
              </a:ext>
            </a:extLst>
          </p:cNvPr>
          <p:cNvSpPr txBox="1">
            <a:spLocks/>
          </p:cNvSpPr>
          <p:nvPr/>
        </p:nvSpPr>
        <p:spPr>
          <a:xfrm>
            <a:off x="457200" y="438963"/>
            <a:ext cx="11258550" cy="70167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/>
              <a:t>Governance Recommendations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5DE0DE-022F-EA93-B2C1-35B546A54356}"/>
              </a:ext>
            </a:extLst>
          </p:cNvPr>
          <p:cNvSpPr/>
          <p:nvPr/>
        </p:nvSpPr>
        <p:spPr>
          <a:xfrm>
            <a:off x="1" y="226626"/>
            <a:ext cx="221672" cy="840174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205D4D-12A4-AEC3-385E-82D246694E81}"/>
              </a:ext>
            </a:extLst>
          </p:cNvPr>
          <p:cNvSpPr txBox="1"/>
          <p:nvPr/>
        </p:nvSpPr>
        <p:spPr>
          <a:xfrm>
            <a:off x="457200" y="239295"/>
            <a:ext cx="6096000" cy="276999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03 | Privacy &amp; Governance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2AAC18-39EA-7BE7-E884-DD917ED28D89}"/>
              </a:ext>
            </a:extLst>
          </p:cNvPr>
          <p:cNvSpPr/>
          <p:nvPr/>
        </p:nvSpPr>
        <p:spPr>
          <a:xfrm>
            <a:off x="723862" y="1351007"/>
            <a:ext cx="5191200" cy="110520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solidFill>
                  <a:schemeClr val="tx1"/>
                </a:solidFill>
              </a:rPr>
              <a:t>Input Validation and Standardization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Enforce YYYY-MM-DD format for </a:t>
            </a:r>
            <a:r>
              <a:rPr lang="en-US" sz="1400" b="1" err="1">
                <a:solidFill>
                  <a:schemeClr val="tx1"/>
                </a:solidFill>
              </a:rPr>
              <a:t>date_of_birth</a:t>
            </a:r>
            <a:r>
              <a:rPr lang="en-US" sz="1400" b="1">
                <a:solidFill>
                  <a:schemeClr val="tx1"/>
                </a:solidFill>
              </a:rPr>
              <a:t> </a:t>
            </a:r>
            <a:r>
              <a:rPr lang="en-US" sz="1400">
                <a:solidFill>
                  <a:schemeClr val="tx1"/>
                </a:solidFill>
              </a:rPr>
              <a:t>and single </a:t>
            </a:r>
            <a:r>
              <a:rPr lang="en-US" sz="1400" b="1">
                <a:solidFill>
                  <a:schemeClr val="tx1"/>
                </a:solidFill>
              </a:rPr>
              <a:t>gender</a:t>
            </a:r>
            <a:r>
              <a:rPr lang="en-US" sz="1400">
                <a:solidFill>
                  <a:schemeClr val="tx1"/>
                </a:solidFill>
              </a:rPr>
              <a:t> </a:t>
            </a:r>
            <a:r>
              <a:rPr lang="en-US" sz="1400" err="1">
                <a:solidFill>
                  <a:schemeClr val="tx1"/>
                </a:solidFill>
              </a:rPr>
              <a:t>enconding</a:t>
            </a:r>
            <a:r>
              <a:rPr lang="en-US" sz="1400">
                <a:solidFill>
                  <a:schemeClr val="tx1"/>
                </a:solidFill>
              </a:rPr>
              <a:t>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Add range filters for financial fields</a:t>
            </a:r>
          </a:p>
          <a:p>
            <a:r>
              <a:rPr lang="en-US" sz="1400" b="1">
                <a:solidFill>
                  <a:schemeClr val="tx1"/>
                </a:solidFill>
              </a:rPr>
              <a:t>GDPR Article 5(1)(d)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BA3BEE-E7F6-F749-F906-4E7EC5D5E4BD}"/>
              </a:ext>
            </a:extLst>
          </p:cNvPr>
          <p:cNvSpPr/>
          <p:nvPr/>
        </p:nvSpPr>
        <p:spPr>
          <a:xfrm>
            <a:off x="723862" y="2536406"/>
            <a:ext cx="5191200" cy="110520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solidFill>
                  <a:schemeClr val="tx1"/>
                </a:solidFill>
              </a:rPr>
              <a:t>Data Minimization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Remove the </a:t>
            </a:r>
            <a:r>
              <a:rPr lang="en-US" sz="1400" b="1" err="1">
                <a:solidFill>
                  <a:schemeClr val="tx1"/>
                </a:solidFill>
              </a:rPr>
              <a:t>ip_address</a:t>
            </a:r>
            <a:r>
              <a:rPr lang="en-US" sz="1400" b="1">
                <a:solidFill>
                  <a:schemeClr val="tx1"/>
                </a:solidFill>
              </a:rPr>
              <a:t>, </a:t>
            </a:r>
            <a:r>
              <a:rPr lang="en-US" sz="1400" b="1" err="1">
                <a:solidFill>
                  <a:schemeClr val="tx1"/>
                </a:solidFill>
              </a:rPr>
              <a:t>full_name</a:t>
            </a:r>
            <a:r>
              <a:rPr lang="en-US" sz="1400" b="1">
                <a:solidFill>
                  <a:schemeClr val="tx1"/>
                </a:solidFill>
              </a:rPr>
              <a:t> and </a:t>
            </a:r>
            <a:r>
              <a:rPr lang="en-US" sz="1400" b="1" err="1">
                <a:solidFill>
                  <a:schemeClr val="tx1"/>
                </a:solidFill>
              </a:rPr>
              <a:t>spending_behaviour</a:t>
            </a:r>
            <a:r>
              <a:rPr lang="en-US" sz="1400">
                <a:solidFill>
                  <a:schemeClr val="tx1"/>
                </a:solidFill>
              </a:rPr>
              <a:t> fields</a:t>
            </a:r>
          </a:p>
          <a:p>
            <a:r>
              <a:rPr lang="en-US" sz="1400" b="1">
                <a:solidFill>
                  <a:schemeClr val="tx1"/>
                </a:solidFill>
              </a:rPr>
              <a:t>GDPR Article 5(1)(c)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340DF2-E1A7-6C45-D071-7F2A7F829C55}"/>
              </a:ext>
            </a:extLst>
          </p:cNvPr>
          <p:cNvSpPr/>
          <p:nvPr/>
        </p:nvSpPr>
        <p:spPr>
          <a:xfrm>
            <a:off x="712613" y="3714405"/>
            <a:ext cx="5191200" cy="110520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solidFill>
                  <a:schemeClr val="tx1"/>
                </a:solidFill>
              </a:rPr>
              <a:t>Governance Metadata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Add </a:t>
            </a:r>
            <a:r>
              <a:rPr lang="en-US" sz="1400" b="1" err="1">
                <a:solidFill>
                  <a:schemeClr val="tx1"/>
                </a:solidFill>
              </a:rPr>
              <a:t>consent_timestamp</a:t>
            </a:r>
            <a:r>
              <a:rPr lang="en-US" sz="1400" b="1">
                <a:solidFill>
                  <a:schemeClr val="tx1"/>
                </a:solidFill>
              </a:rPr>
              <a:t>, </a:t>
            </a:r>
            <a:r>
              <a:rPr lang="en-US" sz="1400" b="1" err="1">
                <a:solidFill>
                  <a:schemeClr val="tx1"/>
                </a:solidFill>
              </a:rPr>
              <a:t>retention_until</a:t>
            </a:r>
            <a:r>
              <a:rPr lang="en-US" sz="1400" b="1">
                <a:solidFill>
                  <a:schemeClr val="tx1"/>
                </a:solidFill>
              </a:rPr>
              <a:t>, </a:t>
            </a:r>
            <a:r>
              <a:rPr lang="en-US" sz="1400" b="1" err="1">
                <a:solidFill>
                  <a:schemeClr val="tx1"/>
                </a:solidFill>
              </a:rPr>
              <a:t>data_source</a:t>
            </a:r>
            <a:r>
              <a:rPr lang="en-US" sz="1400" b="1">
                <a:solidFill>
                  <a:schemeClr val="tx1"/>
                </a:solidFill>
              </a:rPr>
              <a:t> and </a:t>
            </a:r>
            <a:r>
              <a:rPr lang="en-US" sz="1400" b="1" err="1">
                <a:solidFill>
                  <a:schemeClr val="tx1"/>
                </a:solidFill>
              </a:rPr>
              <a:t>processing_purposes</a:t>
            </a:r>
            <a:r>
              <a:rPr lang="en-US" sz="1400" b="1">
                <a:solidFill>
                  <a:schemeClr val="tx1"/>
                </a:solidFill>
              </a:rPr>
              <a:t> </a:t>
            </a:r>
            <a:r>
              <a:rPr lang="en-US" sz="1400">
                <a:solidFill>
                  <a:schemeClr val="tx1"/>
                </a:solidFill>
              </a:rPr>
              <a:t>fields</a:t>
            </a:r>
          </a:p>
          <a:p>
            <a:r>
              <a:rPr lang="en-US" sz="1400" b="1">
                <a:solidFill>
                  <a:schemeClr val="tx1"/>
                </a:solidFill>
              </a:rPr>
              <a:t>GDPR Articles 5(1)(a)(b)(e)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8B5EFE-4DEC-2666-BA7C-7FD1CE4527BD}"/>
              </a:ext>
            </a:extLst>
          </p:cNvPr>
          <p:cNvSpPr/>
          <p:nvPr/>
        </p:nvSpPr>
        <p:spPr>
          <a:xfrm>
            <a:off x="723862" y="4899804"/>
            <a:ext cx="5191200" cy="110520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solidFill>
                  <a:schemeClr val="tx1"/>
                </a:solidFill>
              </a:rPr>
              <a:t>Decision Transparency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In  the </a:t>
            </a:r>
            <a:r>
              <a:rPr lang="en-US" sz="1400" b="1" err="1">
                <a:solidFill>
                  <a:schemeClr val="tx1"/>
                </a:solidFill>
              </a:rPr>
              <a:t>rejection_decision</a:t>
            </a:r>
            <a:r>
              <a:rPr lang="en-US" sz="1400" b="1">
                <a:solidFill>
                  <a:schemeClr val="tx1"/>
                </a:solidFill>
              </a:rPr>
              <a:t> </a:t>
            </a:r>
            <a:r>
              <a:rPr lang="en-US" sz="1400">
                <a:solidFill>
                  <a:schemeClr val="tx1"/>
                </a:solidFill>
              </a:rPr>
              <a:t>field, replace </a:t>
            </a:r>
            <a:r>
              <a:rPr lang="en-US" sz="1400" b="1">
                <a:solidFill>
                  <a:schemeClr val="tx1"/>
                </a:solidFill>
              </a:rPr>
              <a:t>“</a:t>
            </a:r>
            <a:r>
              <a:rPr lang="en-US" sz="1400" b="1" err="1">
                <a:solidFill>
                  <a:schemeClr val="tx1"/>
                </a:solidFill>
              </a:rPr>
              <a:t>algorithm_risk_score</a:t>
            </a:r>
            <a:r>
              <a:rPr lang="en-US" sz="1400" b="1">
                <a:solidFill>
                  <a:schemeClr val="tx1"/>
                </a:solidFill>
              </a:rPr>
              <a:t>” </a:t>
            </a:r>
            <a:r>
              <a:rPr lang="en-US" sz="1400">
                <a:solidFill>
                  <a:schemeClr val="tx1"/>
                </a:solidFill>
              </a:rPr>
              <a:t>with  structured rejection reasons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Add “ </a:t>
            </a:r>
            <a:r>
              <a:rPr lang="en-US" sz="1400" b="1" err="1">
                <a:solidFill>
                  <a:schemeClr val="tx1"/>
                </a:solidFill>
              </a:rPr>
              <a:t>model_version</a:t>
            </a:r>
            <a:r>
              <a:rPr lang="en-US" sz="1400" b="1">
                <a:solidFill>
                  <a:schemeClr val="tx1"/>
                </a:solidFill>
              </a:rPr>
              <a:t>” </a:t>
            </a:r>
            <a:r>
              <a:rPr lang="en-US" sz="1400">
                <a:solidFill>
                  <a:schemeClr val="tx1"/>
                </a:solidFill>
              </a:rPr>
              <a:t>field</a:t>
            </a:r>
          </a:p>
          <a:p>
            <a:r>
              <a:rPr lang="en-US" sz="1400" b="1">
                <a:solidFill>
                  <a:schemeClr val="tx1"/>
                </a:solidFill>
              </a:rPr>
              <a:t>GDPR Article 5(1)(a) and AI ACT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3C584B1-4D62-737E-C0E7-61A3C7794FDA}"/>
              </a:ext>
            </a:extLst>
          </p:cNvPr>
          <p:cNvSpPr/>
          <p:nvPr/>
        </p:nvSpPr>
        <p:spPr>
          <a:xfrm>
            <a:off x="6758493" y="1903607"/>
            <a:ext cx="5191200" cy="110520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solidFill>
                  <a:schemeClr val="tx1"/>
                </a:solidFill>
              </a:rPr>
              <a:t>Human Oversight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Add </a:t>
            </a:r>
            <a:r>
              <a:rPr lang="en-US" sz="1400" b="1" err="1">
                <a:solidFill>
                  <a:schemeClr val="tx1"/>
                </a:solidFill>
              </a:rPr>
              <a:t>reviewer_id</a:t>
            </a:r>
            <a:r>
              <a:rPr lang="en-US" sz="1400" b="1">
                <a:solidFill>
                  <a:schemeClr val="tx1"/>
                </a:solidFill>
              </a:rPr>
              <a:t>, </a:t>
            </a:r>
            <a:r>
              <a:rPr lang="en-US" sz="1400" b="1" err="1">
                <a:solidFill>
                  <a:schemeClr val="tx1"/>
                </a:solidFill>
              </a:rPr>
              <a:t>decision_override</a:t>
            </a:r>
            <a:r>
              <a:rPr lang="en-US" sz="1400" b="1">
                <a:solidFill>
                  <a:schemeClr val="tx1"/>
                </a:solidFill>
              </a:rPr>
              <a:t> </a:t>
            </a:r>
            <a:r>
              <a:rPr lang="en-US" sz="1400">
                <a:solidFill>
                  <a:schemeClr val="tx1"/>
                </a:solidFill>
              </a:rPr>
              <a:t> and </a:t>
            </a:r>
            <a:r>
              <a:rPr lang="en-US" sz="1400" b="1" err="1">
                <a:solidFill>
                  <a:schemeClr val="tx1"/>
                </a:solidFill>
              </a:rPr>
              <a:t>review_timestamp</a:t>
            </a:r>
            <a:r>
              <a:rPr lang="en-US" sz="1400" b="1">
                <a:solidFill>
                  <a:schemeClr val="tx1"/>
                </a:solidFill>
              </a:rPr>
              <a:t> </a:t>
            </a:r>
            <a:r>
              <a:rPr lang="en-US" sz="1400">
                <a:solidFill>
                  <a:schemeClr val="tx1"/>
                </a:solidFill>
              </a:rPr>
              <a:t>fields</a:t>
            </a:r>
            <a:endParaRPr lang="en-US" sz="1400" b="1">
              <a:solidFill>
                <a:schemeClr val="tx1"/>
              </a:solidFill>
            </a:endParaRPr>
          </a:p>
          <a:p>
            <a:r>
              <a:rPr lang="en-US" sz="1400" b="1">
                <a:solidFill>
                  <a:schemeClr val="tx1"/>
                </a:solidFill>
              </a:rPr>
              <a:t>EU AI Act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0B823C-CAAF-D7BF-CCC5-D0C5E2FC76F4}"/>
              </a:ext>
            </a:extLst>
          </p:cNvPr>
          <p:cNvSpPr/>
          <p:nvPr/>
        </p:nvSpPr>
        <p:spPr>
          <a:xfrm>
            <a:off x="6758493" y="3169317"/>
            <a:ext cx="5191200" cy="110520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solidFill>
                  <a:schemeClr val="tx1"/>
                </a:solidFill>
              </a:rPr>
              <a:t>Bias Monitoring</a:t>
            </a:r>
            <a:r>
              <a:rPr lang="en-US" sz="1400">
                <a:solidFill>
                  <a:schemeClr val="tx1"/>
                </a:solidFill>
              </a:rPr>
              <a:t>​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Do quarterly audits across </a:t>
            </a:r>
            <a:r>
              <a:rPr lang="en-US" sz="1400" b="1">
                <a:solidFill>
                  <a:schemeClr val="tx1"/>
                </a:solidFill>
              </a:rPr>
              <a:t>gender </a:t>
            </a:r>
            <a:r>
              <a:rPr lang="en-US" sz="1400">
                <a:solidFill>
                  <a:schemeClr val="tx1"/>
                </a:solidFill>
              </a:rPr>
              <a:t>and </a:t>
            </a:r>
            <a:r>
              <a:rPr lang="en-US" sz="1400" b="1">
                <a:solidFill>
                  <a:schemeClr val="tx1"/>
                </a:solidFill>
              </a:rPr>
              <a:t>age</a:t>
            </a:r>
            <a:r>
              <a:rPr lang="en-US" sz="1400">
                <a:solidFill>
                  <a:schemeClr val="tx1"/>
                </a:solidFill>
              </a:rPr>
              <a:t>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Trigger review if DI &lt;0.8</a:t>
            </a:r>
          </a:p>
          <a:p>
            <a:r>
              <a:rPr lang="en-US" sz="1400" b="1">
                <a:solidFill>
                  <a:schemeClr val="tx1"/>
                </a:solidFill>
              </a:rPr>
              <a:t>GDPR Article 5(1)(a) and EU AI Act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CA4140-BD6B-5F07-B099-F45D5E863BC7}"/>
              </a:ext>
            </a:extLst>
          </p:cNvPr>
          <p:cNvSpPr/>
          <p:nvPr/>
        </p:nvSpPr>
        <p:spPr>
          <a:xfrm>
            <a:off x="6758493" y="4443661"/>
            <a:ext cx="5191200" cy="110520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solidFill>
                  <a:schemeClr val="tx1"/>
                </a:solidFill>
              </a:rPr>
              <a:t>Audit Logging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Add </a:t>
            </a:r>
            <a:r>
              <a:rPr lang="en-US" sz="1400" b="1" err="1">
                <a:solidFill>
                  <a:schemeClr val="tx1"/>
                </a:solidFill>
              </a:rPr>
              <a:t>access_logs</a:t>
            </a:r>
            <a:r>
              <a:rPr lang="en-US" sz="1400" b="1">
                <a:solidFill>
                  <a:schemeClr val="tx1"/>
                </a:solidFill>
              </a:rPr>
              <a:t>, </a:t>
            </a:r>
            <a:r>
              <a:rPr lang="en-US" sz="1400" b="1" err="1">
                <a:solidFill>
                  <a:schemeClr val="tx1"/>
                </a:solidFill>
              </a:rPr>
              <a:t>model_version</a:t>
            </a:r>
            <a:r>
              <a:rPr lang="en-US" sz="1400">
                <a:solidFill>
                  <a:schemeClr val="tx1"/>
                </a:solidFill>
              </a:rPr>
              <a:t> and </a:t>
            </a:r>
            <a:r>
              <a:rPr lang="en-US" sz="1400" b="1" err="1">
                <a:solidFill>
                  <a:schemeClr val="tx1"/>
                </a:solidFill>
              </a:rPr>
              <a:t>decision_override</a:t>
            </a:r>
            <a:r>
              <a:rPr lang="en-US" sz="1400" b="1">
                <a:solidFill>
                  <a:schemeClr val="tx1"/>
                </a:solidFill>
              </a:rPr>
              <a:t> </a:t>
            </a:r>
            <a:r>
              <a:rPr lang="en-US" sz="1400">
                <a:solidFill>
                  <a:schemeClr val="tx1"/>
                </a:solidFill>
              </a:rPr>
              <a:t>fields</a:t>
            </a:r>
          </a:p>
          <a:p>
            <a:r>
              <a:rPr lang="en-US" sz="1400" b="1">
                <a:solidFill>
                  <a:schemeClr val="tx1"/>
                </a:solidFill>
              </a:rPr>
              <a:t>GDPR Article 5(2) </a:t>
            </a:r>
            <a:r>
              <a:rPr lang="en-US" sz="1400">
                <a:solidFill>
                  <a:schemeClr val="tx1"/>
                </a:solidFill>
              </a:rPr>
              <a:t> and </a:t>
            </a:r>
            <a:r>
              <a:rPr lang="en-US" sz="1400" b="1">
                <a:solidFill>
                  <a:schemeClr val="tx1"/>
                </a:solidFill>
              </a:rPr>
              <a:t>EU AI Act</a:t>
            </a:r>
          </a:p>
        </p:txBody>
      </p:sp>
      <p:pic>
        <p:nvPicPr>
          <p:cNvPr id="99" name="Audio 98">
            <a:extLst>
              <a:ext uri="{FF2B5EF4-FFF2-40B4-BE49-F238E27FC236}">
                <a16:creationId xmlns:a16="http://schemas.microsoft.com/office/drawing/2014/main" id="{8E77390A-1683-F2DA-49BC-EEF18E1C3DD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4220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8083"/>
    </mc:Choice>
    <mc:Fallback>
      <p:transition spd="slow" advTm="2808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9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CE985-8963-2C10-7C53-EFE304380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45D73B9-074A-6278-A38A-4CFBB70D30F6}"/>
              </a:ext>
            </a:extLst>
          </p:cNvPr>
          <p:cNvSpPr/>
          <p:nvPr/>
        </p:nvSpPr>
        <p:spPr>
          <a:xfrm>
            <a:off x="0" y="4038601"/>
            <a:ext cx="855406" cy="2095496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1912228-1A8B-ACEE-5839-398806596B2C}"/>
              </a:ext>
            </a:extLst>
          </p:cNvPr>
          <p:cNvGrpSpPr/>
          <p:nvPr/>
        </p:nvGrpSpPr>
        <p:grpSpPr>
          <a:xfrm>
            <a:off x="1297542" y="4266919"/>
            <a:ext cx="8063425" cy="1065653"/>
            <a:chOff x="810520" y="2509978"/>
            <a:chExt cx="8063425" cy="106565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C89DA39-D2F3-5E40-B411-9599CE3D1DA8}"/>
                </a:ext>
              </a:extLst>
            </p:cNvPr>
            <p:cNvSpPr txBox="1"/>
            <p:nvPr/>
          </p:nvSpPr>
          <p:spPr>
            <a:xfrm>
              <a:off x="810520" y="2509978"/>
              <a:ext cx="8063425" cy="923330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r>
                <a:rPr lang="en-US" sz="6000">
                  <a:solidFill>
                    <a:srgbClr val="102747"/>
                  </a:solidFill>
                  <a:latin typeface="Garamond" panose="02020404030301010803" pitchFamily="18" charset="0"/>
                </a:rPr>
                <a:t>Conclusion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595F71-77DE-1A55-1182-93AE0C5A70DD}"/>
                </a:ext>
              </a:extLst>
            </p:cNvPr>
            <p:cNvCxnSpPr>
              <a:cxnSpLocks/>
            </p:cNvCxnSpPr>
            <p:nvPr/>
          </p:nvCxnSpPr>
          <p:spPr>
            <a:xfrm>
              <a:off x="810520" y="3575631"/>
              <a:ext cx="8063425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07AC84D3-20A6-ADD3-4CA4-9C0C4CF05534}"/>
              </a:ext>
            </a:extLst>
          </p:cNvPr>
          <p:cNvSpPr/>
          <p:nvPr/>
        </p:nvSpPr>
        <p:spPr>
          <a:xfrm>
            <a:off x="9803102" y="4038601"/>
            <a:ext cx="2388897" cy="2095496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2572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EB3EB-D02A-4B2A-9829-29CDD5B66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0" y="1930401"/>
            <a:ext cx="5449824" cy="1273592"/>
          </a:xfrm>
        </p:spPr>
        <p:txBody>
          <a:bodyPr lIns="0" tIns="0" rIns="0" bIns="0" anchor="t">
            <a:noAutofit/>
          </a:bodyPr>
          <a:lstStyle/>
          <a:p>
            <a:r>
              <a:rPr lang="en-US" sz="1400" b="1">
                <a:solidFill>
                  <a:srgbClr val="2D3748"/>
                </a:solidFill>
              </a:rPr>
              <a:t>13 </a:t>
            </a:r>
            <a:r>
              <a:rPr lang="en-US" sz="1400">
                <a:solidFill>
                  <a:srgbClr val="2D3748"/>
                </a:solidFill>
              </a:rPr>
              <a:t>issues across 5 dimensions</a:t>
            </a:r>
          </a:p>
          <a:p>
            <a:r>
              <a:rPr lang="en-US" sz="1400">
                <a:solidFill>
                  <a:srgbClr val="2D3748"/>
                </a:solidFill>
              </a:rPr>
              <a:t>All Quality Dimensions not satisfied  · </a:t>
            </a:r>
          </a:p>
          <a:p>
            <a:r>
              <a:rPr lang="en-US" sz="1400" b="1">
                <a:solidFill>
                  <a:srgbClr val="2D3748"/>
                </a:solidFill>
              </a:rPr>
              <a:t>34.2%</a:t>
            </a:r>
            <a:r>
              <a:rPr lang="en-US" sz="1400">
                <a:solidFill>
                  <a:srgbClr val="2D3748"/>
                </a:solidFill>
              </a:rPr>
              <a:t> of records carry at least one flag </a:t>
            </a:r>
          </a:p>
          <a:p>
            <a:pPr marL="0" indent="0">
              <a:lnSpc>
                <a:spcPct val="135000"/>
              </a:lnSpc>
              <a:buNone/>
            </a:pPr>
            <a:endParaRPr lang="en-US" sz="1400">
              <a:solidFill>
                <a:srgbClr val="2D3748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19ADDA-F337-4788-86F1-266D5676F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365125"/>
            <a:ext cx="11258550" cy="701675"/>
          </a:xfrm>
        </p:spPr>
        <p:txBody>
          <a:bodyPr lIns="0" tIns="0" rIns="0" bIns="0" anchor="ctr">
            <a:normAutofit/>
          </a:bodyPr>
          <a:lstStyle/>
          <a:p>
            <a:r>
              <a:rPr lang="en-US" sz="2800"/>
              <a:t>Conclusion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DF7546-5B53-457F-BF1F-872AA9DC4568}"/>
              </a:ext>
            </a:extLst>
          </p:cNvPr>
          <p:cNvSpPr/>
          <p:nvPr/>
        </p:nvSpPr>
        <p:spPr>
          <a:xfrm>
            <a:off x="0" y="365125"/>
            <a:ext cx="275771" cy="701675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19D98-9AE7-44E7-8F60-792F270F2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6287" y="6275388"/>
            <a:ext cx="388513" cy="365125"/>
          </a:xfrm>
          <a:solidFill>
            <a:srgbClr val="102747"/>
          </a:solidFill>
        </p:spPr>
        <p:txBody>
          <a:bodyPr/>
          <a:lstStyle/>
          <a:p>
            <a:pPr algn="ctr"/>
            <a:fld id="{20ACEE5B-6B89-47D3-A969-11CC9D54FA43}" type="slidenum">
              <a:rPr lang="en-US" smtClean="0">
                <a:solidFill>
                  <a:schemeClr val="bg1"/>
                </a:solidFill>
              </a:rPr>
              <a:pPr algn="ctr"/>
              <a:t>17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B6EFDB5-FC2B-49AA-A879-65DB711D8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6250" y="6275388"/>
            <a:ext cx="4114800" cy="365125"/>
          </a:xfrm>
        </p:spPr>
        <p:txBody>
          <a:bodyPr lIns="0"/>
          <a:lstStyle/>
          <a:p>
            <a:pPr algn="l"/>
            <a:r>
              <a:rPr lang="en-US" err="1"/>
              <a:t>Dego</a:t>
            </a:r>
            <a:r>
              <a:rPr lang="en-US"/>
              <a:t> 2606|Msc Business </a:t>
            </a:r>
            <a:r>
              <a:rPr lang="en-US" err="1"/>
              <a:t>Analytics|Team</a:t>
            </a:r>
            <a:r>
              <a:rPr lang="en-US"/>
              <a:t> 9|Txa</a:t>
            </a:r>
          </a:p>
          <a:p>
            <a:pPr algn="l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B636B81-E366-40A1-A22C-E23DE020F5B1}"/>
              </a:ext>
            </a:extLst>
          </p:cNvPr>
          <p:cNvCxnSpPr/>
          <p:nvPr/>
        </p:nvCxnSpPr>
        <p:spPr>
          <a:xfrm>
            <a:off x="4723238" y="6457950"/>
            <a:ext cx="649086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537E66E-CC66-4916-9074-FD3B7FF1F6E6}"/>
              </a:ext>
            </a:extLst>
          </p:cNvPr>
          <p:cNvSpPr txBox="1">
            <a:spLocks/>
          </p:cNvSpPr>
          <p:nvPr/>
        </p:nvSpPr>
        <p:spPr>
          <a:xfrm>
            <a:off x="476250" y="3050104"/>
            <a:ext cx="5449824" cy="3077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aramond" panose="02020404030301010803" pitchFamily="18" charset="0"/>
              <a:buNone/>
              <a:defRPr sz="2000" b="0" i="0" u="none" strike="noStrike" kern="1200" spc="0" baseline="0">
                <a:solidFill>
                  <a:srgbClr val="102747"/>
                </a:solidFill>
                <a:latin typeface="+mn-lt"/>
                <a:ea typeface="+mn-ea"/>
                <a:cs typeface="+mn-cs"/>
              </a:defRPr>
            </a:pPr>
            <a:r>
              <a:rPr lang="en-US" sz="2000">
                <a:solidFill>
                  <a:srgbClr val="102747"/>
                </a:solidFill>
              </a:rPr>
              <a:t>Privacy Gaps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9930F63-867C-450B-92C6-3CA38D984955}"/>
              </a:ext>
            </a:extLst>
          </p:cNvPr>
          <p:cNvCxnSpPr>
            <a:cxnSpLocks/>
          </p:cNvCxnSpPr>
          <p:nvPr/>
        </p:nvCxnSpPr>
        <p:spPr>
          <a:xfrm>
            <a:off x="476250" y="1708405"/>
            <a:ext cx="5449824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C6402A8A-41DA-4EF8-83E0-8EF6559A8B08}"/>
              </a:ext>
            </a:extLst>
          </p:cNvPr>
          <p:cNvSpPr txBox="1">
            <a:spLocks/>
          </p:cNvSpPr>
          <p:nvPr/>
        </p:nvSpPr>
        <p:spPr>
          <a:xfrm>
            <a:off x="6325035" y="1218131"/>
            <a:ext cx="5449824" cy="3077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aramond" panose="02020404030301010803" pitchFamily="18" charset="0"/>
              <a:buNone/>
              <a:defRPr sz="2000" b="0" i="0" u="none" strike="noStrike" kern="1200" spc="0" baseline="0">
                <a:solidFill>
                  <a:srgbClr val="102747"/>
                </a:solidFill>
                <a:latin typeface="+mn-lt"/>
                <a:ea typeface="+mn-ea"/>
                <a:cs typeface="+mn-cs"/>
              </a:defRPr>
            </a:pPr>
            <a:r>
              <a:rPr lang="en-US" sz="2000">
                <a:solidFill>
                  <a:srgbClr val="102747"/>
                </a:solidFill>
              </a:rPr>
              <a:t>Algorithmic Bias 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CAD134E-B413-436C-8A34-8D5A4567650C}"/>
              </a:ext>
            </a:extLst>
          </p:cNvPr>
          <p:cNvCxnSpPr>
            <a:cxnSpLocks/>
          </p:cNvCxnSpPr>
          <p:nvPr/>
        </p:nvCxnSpPr>
        <p:spPr>
          <a:xfrm>
            <a:off x="6284976" y="1708405"/>
            <a:ext cx="5449824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CAA337A-FD58-D649-899D-B0A08639ED00}"/>
              </a:ext>
            </a:extLst>
          </p:cNvPr>
          <p:cNvSpPr txBox="1">
            <a:spLocks/>
          </p:cNvSpPr>
          <p:nvPr/>
        </p:nvSpPr>
        <p:spPr>
          <a:xfrm>
            <a:off x="476250" y="1218131"/>
            <a:ext cx="5449824" cy="3077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aramond" panose="02020404030301010803" pitchFamily="18" charset="0"/>
              <a:buNone/>
              <a:defRPr sz="2000" b="0" i="0" u="none" strike="noStrike" kern="1200" spc="0" baseline="0">
                <a:solidFill>
                  <a:srgbClr val="102747"/>
                </a:solidFill>
                <a:latin typeface="+mn-lt"/>
                <a:ea typeface="+mn-ea"/>
                <a:cs typeface="+mn-cs"/>
              </a:defRPr>
            </a:pPr>
            <a:r>
              <a:rPr lang="en-US" sz="2000">
                <a:solidFill>
                  <a:srgbClr val="102747"/>
                </a:solidFill>
              </a:rPr>
              <a:t>Data Quality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73E13CC7-44B3-9645-96B2-68AA7D42CB9F}"/>
              </a:ext>
            </a:extLst>
          </p:cNvPr>
          <p:cNvSpPr txBox="1">
            <a:spLocks/>
          </p:cNvSpPr>
          <p:nvPr/>
        </p:nvSpPr>
        <p:spPr>
          <a:xfrm>
            <a:off x="6291836" y="1860881"/>
            <a:ext cx="5449824" cy="90517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5000"/>
              </a:lnSpc>
            </a:pPr>
            <a:r>
              <a:rPr lang="en-US" sz="1400">
                <a:solidFill>
                  <a:srgbClr val="2D3748"/>
                </a:solidFill>
              </a:rPr>
              <a:t>Gender DI = 0.77 → FAIL  AND </a:t>
            </a:r>
            <a:r>
              <a:rPr lang="en-CA" sz="1400">
                <a:solidFill>
                  <a:srgbClr val="2D3748"/>
                </a:solidFill>
              </a:rPr>
              <a:t>Age DI ratio = 0.753 → FAIL  </a:t>
            </a:r>
          </a:p>
          <a:p>
            <a:pPr>
              <a:lnSpc>
                <a:spcPct val="135000"/>
              </a:lnSpc>
            </a:pPr>
            <a:r>
              <a:rPr lang="en-US" sz="1400">
                <a:solidFill>
                  <a:srgbClr val="2D3748"/>
                </a:solidFill>
              </a:rPr>
              <a:t>Young female applicants face compounded disadvantage.</a:t>
            </a:r>
          </a:p>
          <a:p>
            <a:pPr marL="0" indent="0">
              <a:lnSpc>
                <a:spcPct val="135000"/>
              </a:lnSpc>
              <a:buNone/>
            </a:pPr>
            <a:endParaRPr lang="en-US" sz="1400">
              <a:solidFill>
                <a:srgbClr val="2D3748"/>
              </a:solidFill>
            </a:endParaRP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F3DEB8E-5D50-A744-A3BE-33F12D0529CB}"/>
              </a:ext>
            </a:extLst>
          </p:cNvPr>
          <p:cNvSpPr txBox="1">
            <a:spLocks/>
          </p:cNvSpPr>
          <p:nvPr/>
        </p:nvSpPr>
        <p:spPr>
          <a:xfrm>
            <a:off x="476250" y="3517920"/>
            <a:ext cx="5449824" cy="127359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5000"/>
              </a:lnSpc>
            </a:pPr>
            <a:r>
              <a:rPr lang="en-US" sz="1400">
                <a:solidFill>
                  <a:srgbClr val="2D3748"/>
                </a:solidFill>
              </a:rPr>
              <a:t>7  PII in plain text ·</a:t>
            </a:r>
          </a:p>
          <a:p>
            <a:pPr>
              <a:lnSpc>
                <a:spcPct val="135000"/>
              </a:lnSpc>
            </a:pPr>
            <a:r>
              <a:rPr lang="en-US" sz="1400">
                <a:solidFill>
                  <a:srgbClr val="2D3748"/>
                </a:solidFill>
              </a:rPr>
              <a:t>99.4% of applicants are re-identifiable from 3 quasi-identifiers alone </a:t>
            </a:r>
          </a:p>
          <a:p>
            <a:pPr>
              <a:lnSpc>
                <a:spcPct val="135000"/>
              </a:lnSpc>
            </a:pPr>
            <a:r>
              <a:rPr lang="en-US" sz="1400">
                <a:solidFill>
                  <a:srgbClr val="2D3748"/>
                </a:solidFill>
              </a:rPr>
              <a:t>No salted hashing in production</a:t>
            </a:r>
            <a:endParaRPr lang="en-US" sz="1400"/>
          </a:p>
          <a:p>
            <a:pPr marL="0" indent="0">
              <a:lnSpc>
                <a:spcPct val="135000"/>
              </a:lnSpc>
              <a:buFont typeface="Garamond" panose="02020404030301010803" pitchFamily="18" charset="0"/>
              <a:buNone/>
            </a:pPr>
            <a:endParaRPr lang="en-US" sz="1400">
              <a:solidFill>
                <a:srgbClr val="2D3748"/>
              </a:solidFill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C6AD0FC1-B277-A048-8988-7CF896FAEDCD}"/>
              </a:ext>
            </a:extLst>
          </p:cNvPr>
          <p:cNvSpPr txBox="1">
            <a:spLocks/>
          </p:cNvSpPr>
          <p:nvPr/>
        </p:nvSpPr>
        <p:spPr>
          <a:xfrm>
            <a:off x="6291836" y="3543976"/>
            <a:ext cx="5449824" cy="127359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rgbClr val="2D3748"/>
                </a:solidFill>
              </a:rPr>
              <a:t>All 7 GDPR Article 5 principles: FAIL </a:t>
            </a:r>
          </a:p>
          <a:p>
            <a:r>
              <a:rPr lang="en-US" sz="1400">
                <a:solidFill>
                  <a:srgbClr val="2D3748"/>
                </a:solidFill>
              </a:rPr>
              <a:t>High-Risk AI classification under EU AI Act with 5 unmet requirements</a:t>
            </a:r>
            <a:endParaRPr lang="en-US" sz="1400"/>
          </a:p>
          <a:p>
            <a:pPr marL="0" indent="0">
              <a:lnSpc>
                <a:spcPct val="135000"/>
              </a:lnSpc>
              <a:buFont typeface="Garamond" panose="02020404030301010803" pitchFamily="18" charset="0"/>
              <a:buNone/>
            </a:pPr>
            <a:endParaRPr lang="en-US" sz="1400">
              <a:solidFill>
                <a:srgbClr val="2D3748"/>
              </a:solidFill>
            </a:endParaRP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1BA1E751-7D45-9A43-9B01-1C72AA9E7B11}"/>
              </a:ext>
            </a:extLst>
          </p:cNvPr>
          <p:cNvSpPr txBox="1">
            <a:spLocks/>
          </p:cNvSpPr>
          <p:nvPr/>
        </p:nvSpPr>
        <p:spPr>
          <a:xfrm>
            <a:off x="6265926" y="3051971"/>
            <a:ext cx="5449824" cy="3077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177800" indent="-177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0700" indent="-1651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>
                <a:tab pos="1943100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36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02747"/>
              </a:buClr>
              <a:buFont typeface="Garamond" panose="02020404030301010803" pitchFamily="18" charset="0"/>
              <a:buChar char="›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aramond" panose="02020404030301010803" pitchFamily="18" charset="0"/>
              <a:buNone/>
              <a:defRPr sz="2000" b="0" i="0" u="none" strike="noStrike" kern="1200" spc="0" baseline="0">
                <a:solidFill>
                  <a:srgbClr val="102747"/>
                </a:solidFill>
                <a:latin typeface="+mn-lt"/>
                <a:ea typeface="+mn-ea"/>
                <a:cs typeface="+mn-cs"/>
              </a:defRPr>
            </a:pPr>
            <a:r>
              <a:rPr lang="en-US" sz="2000">
                <a:solidFill>
                  <a:srgbClr val="102747"/>
                </a:solidFill>
              </a:rPr>
              <a:t>Regulatory Status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1289351-CA33-6847-8A65-DD05F8F6460F}"/>
              </a:ext>
            </a:extLst>
          </p:cNvPr>
          <p:cNvGrpSpPr/>
          <p:nvPr/>
        </p:nvGrpSpPr>
        <p:grpSpPr>
          <a:xfrm>
            <a:off x="1799060" y="5051800"/>
            <a:ext cx="8612930" cy="738655"/>
            <a:chOff x="684699" y="2988605"/>
            <a:chExt cx="8612930" cy="738655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AF33140-E369-F548-8A75-88367BEE5FA3}"/>
                </a:ext>
              </a:extLst>
            </p:cNvPr>
            <p:cNvSpPr/>
            <p:nvPr/>
          </p:nvSpPr>
          <p:spPr>
            <a:xfrm>
              <a:off x="684699" y="2988605"/>
              <a:ext cx="8612930" cy="738655"/>
            </a:xfrm>
            <a:prstGeom prst="rect">
              <a:avLst/>
            </a:prstGeom>
            <a:solidFill>
              <a:srgbClr val="1027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Subtitle 63">
              <a:extLst>
                <a:ext uri="{FF2B5EF4-FFF2-40B4-BE49-F238E27FC236}">
                  <a16:creationId xmlns:a16="http://schemas.microsoft.com/office/drawing/2014/main" id="{A4465A9D-C546-8D44-BF75-9C27D6A576FB}"/>
                </a:ext>
              </a:extLst>
            </p:cNvPr>
            <p:cNvSpPr txBox="1">
              <a:spLocks/>
            </p:cNvSpPr>
            <p:nvPr/>
          </p:nvSpPr>
          <p:spPr>
            <a:xfrm>
              <a:off x="801304" y="3024847"/>
              <a:ext cx="8454850" cy="615553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Garamond" panose="02020404030301010803" pitchFamily="18" charset="0"/>
                <a:buNone/>
                <a:defRPr sz="2000" b="0" i="0" u="none" strike="noStrike" kern="1200" spc="0" baseline="0">
                  <a:solidFill>
                    <a:srgbClr val="102747"/>
                  </a:solidFill>
                  <a:latin typeface="+mn-lt"/>
                  <a:ea typeface="+mn-ea"/>
                  <a:cs typeface="+mn-cs"/>
                </a:defRPr>
              </a:pPr>
              <a:r>
                <a:rPr lang="en-CA" sz="2000" err="1">
                  <a:solidFill>
                    <a:schemeClr val="bg1"/>
                  </a:solidFill>
                </a:rPr>
                <a:t>NovaCred</a:t>
              </a:r>
              <a:r>
                <a:rPr lang="en-CA" sz="2000">
                  <a:solidFill>
                    <a:schemeClr val="bg1"/>
                  </a:solidFill>
                </a:rPr>
                <a:t> is operating a High-Risk AI system that is non-compliant, biased, and built on compromised data. </a:t>
              </a:r>
              <a:endParaRPr lang="en-US" sz="24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702203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038">
            <a:extLst>
              <a:ext uri="{FF2B5EF4-FFF2-40B4-BE49-F238E27FC236}">
                <a16:creationId xmlns:a16="http://schemas.microsoft.com/office/drawing/2014/main" id="{0A4DC169-4993-4B1E-8950-4347355BC6A3}"/>
              </a:ext>
            </a:extLst>
          </p:cNvPr>
          <p:cNvSpPr/>
          <p:nvPr/>
        </p:nvSpPr>
        <p:spPr>
          <a:xfrm>
            <a:off x="0" y="359229"/>
            <a:ext cx="413657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EBF723D-A4F4-419F-A9B7-75AA050B8271}"/>
              </a:ext>
            </a:extLst>
          </p:cNvPr>
          <p:cNvSpPr/>
          <p:nvPr/>
        </p:nvSpPr>
        <p:spPr>
          <a:xfrm>
            <a:off x="0" y="3788229"/>
            <a:ext cx="8665023" cy="2467430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53B379B-E74C-4691-8BE5-FBE0E846CB72}"/>
              </a:ext>
            </a:extLst>
          </p:cNvPr>
          <p:cNvGrpSpPr/>
          <p:nvPr/>
        </p:nvGrpSpPr>
        <p:grpSpPr>
          <a:xfrm>
            <a:off x="634568" y="4202513"/>
            <a:ext cx="6651604" cy="1638863"/>
            <a:chOff x="810520" y="2509978"/>
            <a:chExt cx="8063425" cy="163886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741E572-75DE-459D-A703-6B6847D7931B}"/>
                </a:ext>
              </a:extLst>
            </p:cNvPr>
            <p:cNvSpPr txBox="1"/>
            <p:nvPr/>
          </p:nvSpPr>
          <p:spPr>
            <a:xfrm>
              <a:off x="810520" y="2509978"/>
              <a:ext cx="8063425" cy="923330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r>
                <a:rPr lang="en-US" sz="6000">
                  <a:solidFill>
                    <a:schemeClr val="bg1"/>
                  </a:solidFill>
                  <a:latin typeface="Garamond" panose="02020404030301010803" pitchFamily="18" charset="0"/>
                </a:rPr>
                <a:t>Thank You 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0E15474-EB57-4BE6-A0DE-6F17AC4329AD}"/>
                </a:ext>
              </a:extLst>
            </p:cNvPr>
            <p:cNvSpPr txBox="1"/>
            <p:nvPr/>
          </p:nvSpPr>
          <p:spPr>
            <a:xfrm>
              <a:off x="810520" y="3717954"/>
              <a:ext cx="8063425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2800">
                  <a:solidFill>
                    <a:schemeClr val="bg1"/>
                  </a:solidFill>
                  <a:latin typeface="Garamond" panose="02020404030301010803" pitchFamily="18" charset="0"/>
                </a:rPr>
                <a:t>Any Questions?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2EC4867-BBC1-4B30-8F0D-2830056F8454}"/>
                </a:ext>
              </a:extLst>
            </p:cNvPr>
            <p:cNvCxnSpPr>
              <a:cxnSpLocks/>
            </p:cNvCxnSpPr>
            <p:nvPr/>
          </p:nvCxnSpPr>
          <p:spPr>
            <a:xfrm>
              <a:off x="810520" y="3575631"/>
              <a:ext cx="8063425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2770AC5-9A42-469C-A710-AFD98B252B45}"/>
              </a:ext>
            </a:extLst>
          </p:cNvPr>
          <p:cNvGrpSpPr/>
          <p:nvPr/>
        </p:nvGrpSpPr>
        <p:grpSpPr>
          <a:xfrm>
            <a:off x="634568" y="3077748"/>
            <a:ext cx="1888337" cy="335669"/>
            <a:chOff x="1153219" y="4821666"/>
            <a:chExt cx="1888337" cy="335669"/>
          </a:xfrm>
        </p:grpSpPr>
        <p:sp>
          <p:nvSpPr>
            <p:cNvPr id="16" name="Subtitle 63">
              <a:extLst>
                <a:ext uri="{FF2B5EF4-FFF2-40B4-BE49-F238E27FC236}">
                  <a16:creationId xmlns:a16="http://schemas.microsoft.com/office/drawing/2014/main" id="{8F7A174D-DAFD-4582-9472-A624813A8C08}"/>
                </a:ext>
              </a:extLst>
            </p:cNvPr>
            <p:cNvSpPr txBox="1">
              <a:spLocks/>
            </p:cNvSpPr>
            <p:nvPr/>
          </p:nvSpPr>
          <p:spPr>
            <a:xfrm>
              <a:off x="2670629" y="4877612"/>
              <a:ext cx="65" cy="223779"/>
            </a:xfrm>
            <a:prstGeom prst="rect">
              <a:avLst/>
            </a:prstGeom>
          </p:spPr>
          <p:txBody>
            <a:bodyPr vert="horz" wrap="none" lIns="0" tIns="0" rIns="0" bIns="0" rtlCol="0" anchor="t">
              <a:sp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00">
                <a:solidFill>
                  <a:srgbClr val="102747"/>
                </a:solidFill>
                <a:latin typeface="Garamond" panose="02020404030301010803" pitchFamily="18" charset="0"/>
                <a:cs typeface="Segoe UI" panose="020B0502040204020203" pitchFamily="34" charset="0"/>
              </a:endParaRPr>
            </a:p>
          </p:txBody>
        </p:sp>
        <p:sp>
          <p:nvSpPr>
            <p:cNvPr id="19" name="Subtitle 63">
              <a:extLst>
                <a:ext uri="{FF2B5EF4-FFF2-40B4-BE49-F238E27FC236}">
                  <a16:creationId xmlns:a16="http://schemas.microsoft.com/office/drawing/2014/main" id="{9878E96D-74BC-4D9E-BDAC-A38523EB3CCB}"/>
                </a:ext>
              </a:extLst>
            </p:cNvPr>
            <p:cNvSpPr txBox="1">
              <a:spLocks/>
            </p:cNvSpPr>
            <p:nvPr/>
          </p:nvSpPr>
          <p:spPr>
            <a:xfrm>
              <a:off x="1153219" y="4821666"/>
              <a:ext cx="1888337" cy="335669"/>
            </a:xfrm>
            <a:prstGeom prst="rect">
              <a:avLst/>
            </a:prstGeom>
          </p:spPr>
          <p:txBody>
            <a:bodyPr vert="horz" wrap="none" lIns="0" tIns="0" rIns="0" bIns="0" rtlCol="0" anchor="t">
              <a:sp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>
                  <a:solidFill>
                    <a:srgbClr val="102747"/>
                  </a:solidFill>
                  <a:latin typeface="Garamond" panose="02020404030301010803" pitchFamily="18" charset="0"/>
                  <a:cs typeface="Segoe UI" panose="020B0502040204020203" pitchFamily="34" charset="0"/>
                </a:rPr>
                <a:t>Group 9 - TXA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8667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4">
      <a:majorFont>
        <a:latin typeface="Garamond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1942</Words>
  <Application>Microsoft Macintosh PowerPoint</Application>
  <PresentationFormat>Widescreen</PresentationFormat>
  <Paragraphs>324</Paragraphs>
  <Slides>18</Slides>
  <Notes>6</Notes>
  <HiddenSlides>0</HiddenSlides>
  <MMClips>4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-apple-system</vt:lpstr>
      <vt:lpstr>Times</vt:lpstr>
      <vt:lpstr>Arial</vt:lpstr>
      <vt:lpstr>Calibri</vt:lpstr>
      <vt:lpstr>Cambria Math</vt:lpstr>
      <vt:lpstr>Garamond</vt:lpstr>
      <vt:lpstr>Office Theme</vt:lpstr>
      <vt:lpstr>PowerPoint Presentation</vt:lpstr>
      <vt:lpstr>Team Profile</vt:lpstr>
      <vt:lpstr>Introduction </vt:lpstr>
      <vt:lpstr>PowerPoint Presentation</vt:lpstr>
      <vt:lpstr>Data Quality Issues</vt:lpstr>
      <vt:lpstr>Cleaning &amp; Flagging Pipeline </vt:lpstr>
      <vt:lpstr>PowerPoint Presentation</vt:lpstr>
      <vt:lpstr>Gender Disparate Impact</vt:lpstr>
      <vt:lpstr>Gender and Income Level Interaction</vt:lpstr>
      <vt:lpstr>Age-Based Discrimination Patterns</vt:lpstr>
      <vt:lpstr>Proxy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Roy Christopher</dc:creator>
  <cp:lastModifiedBy>Miguel Xu</cp:lastModifiedBy>
  <cp:revision>1</cp:revision>
  <dcterms:created xsi:type="dcterms:W3CDTF">2019-11-01T07:33:21Z</dcterms:created>
  <dcterms:modified xsi:type="dcterms:W3CDTF">2026-03-08T22:12:36Z</dcterms:modified>
</cp:coreProperties>
</file>